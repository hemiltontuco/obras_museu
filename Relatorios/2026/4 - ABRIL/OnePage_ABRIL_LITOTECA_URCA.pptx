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444" y="-1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67777" y="5025259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err="1" smtClean="0">
                <a:solidFill>
                  <a:srgbClr val="00B2A9"/>
                </a:solidFill>
                <a:latin typeface="Petrobras Sans" panose="020B0606020204030204" pitchFamily="34" charset="0"/>
              </a:rPr>
              <a:t>Litoteca</a:t>
            </a:r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 URCA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1000"/>
            <a:ext cx="7514119" cy="3302504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47679" y="5019662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19693" y="158626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2924" y="1610898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9693" y="1845321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95603" y="159235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50128" y="1844127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19/05/2027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8506157" y="1728912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7336" y="4880630"/>
            <a:ext cx="581735" cy="581735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3236" y="171356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811801" y="4793778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51232" y="1631344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4922094" y="1698441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16452" y="1661415"/>
            <a:ext cx="0" cy="513555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805801" y="5090722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51054" y="5027754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569285"/>
              </p:ext>
            </p:extLst>
          </p:nvPr>
        </p:nvGraphicFramePr>
        <p:xfrm>
          <a:off x="4396370" y="2117489"/>
          <a:ext cx="7497249" cy="28346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93001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208729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908119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r>
                        <a:rPr lang="pt-BR" sz="11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smtClean="0"/>
                        <a:t>1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A FJA,</a:t>
                      </a:r>
                      <a:r>
                        <a:rPr lang="pt-BR" sz="1050" baseline="0" dirty="0" smtClean="0"/>
                        <a:t> </a:t>
                      </a:r>
                      <a:r>
                        <a:rPr lang="pt-BR" sz="1050" dirty="0" smtClean="0"/>
                        <a:t>SGB e </a:t>
                      </a:r>
                      <a:r>
                        <a:rPr lang="pt-BR" sz="1050" dirty="0" err="1" smtClean="0"/>
                        <a:t>Aldrago</a:t>
                      </a:r>
                      <a:r>
                        <a:rPr lang="pt-BR" sz="1050" dirty="0" smtClean="0"/>
                        <a:t> Florestal estão atendendo às exigências constantes nos comunicados (“comunique-se”) da SMDU e de outros órgãos do Município do Rio de Janeiro (GEORIO, DPA-DPE, CET-RIO, SUBCLA e ARV), com vistas à obtenção da licença</a:t>
                      </a:r>
                      <a:r>
                        <a:rPr lang="pt-BR" sz="1050" baseline="0" dirty="0" smtClean="0"/>
                        <a:t> de obras da </a:t>
                      </a:r>
                      <a:r>
                        <a:rPr lang="pt-BR" sz="1050" baseline="0" dirty="0" err="1" smtClean="0"/>
                        <a:t>Litoteca</a:t>
                      </a:r>
                      <a:r>
                        <a:rPr lang="pt-BR" sz="1050" baseline="0" dirty="0" smtClean="0"/>
                        <a:t> Urca – Fase final de atendimento das exigências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4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Em análise</a:t>
                      </a:r>
                      <a:r>
                        <a:rPr lang="pt-BR" sz="1050" baseline="0" dirty="0" smtClean="0"/>
                        <a:t> –</a:t>
                      </a:r>
                      <a:r>
                        <a:rPr lang="pt-BR" sz="1050" baseline="0" dirty="0"/>
                        <a:t> </a:t>
                      </a:r>
                      <a:r>
                        <a:rPr lang="pt-BR" sz="1050" baseline="0" dirty="0" smtClean="0"/>
                        <a:t>Prefeitura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475424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2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No</a:t>
                      </a:r>
                      <a:r>
                        <a:rPr lang="pt-BR" sz="1050" baseline="0" dirty="0" smtClean="0"/>
                        <a:t> dia 07/04/2026, a FINATEC publicou o novo edital de obras da </a:t>
                      </a:r>
                      <a:r>
                        <a:rPr lang="pt-BR" sz="1050" baseline="0" dirty="0" err="1" smtClean="0"/>
                        <a:t>Litoteca</a:t>
                      </a:r>
                      <a:r>
                        <a:rPr lang="pt-BR" sz="1050" baseline="0" dirty="0" smtClean="0"/>
                        <a:t> Urca (3° edital).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-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117007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3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 smtClean="0"/>
                        <a:t>No dia 02/04/2026, o SGB encaminhou, por meio do SIGITEC, o pedido de aditivo de valor para a obra da </a:t>
                      </a:r>
                      <a:r>
                        <a:rPr lang="pt-BR" sz="1000" dirty="0" err="1" smtClean="0"/>
                        <a:t>Litoteca</a:t>
                      </a:r>
                      <a:r>
                        <a:rPr lang="pt-BR" sz="1000" dirty="0" smtClean="0"/>
                        <a:t> Urca, no montante de R$ 2.204.016,27. Em 16/04/2026, o SGB enviou correções referentes a esse pedido de aditivo,</a:t>
                      </a:r>
                      <a:r>
                        <a:rPr lang="pt-BR" sz="1000" baseline="0" dirty="0" smtClean="0"/>
                        <a:t> conforme solicitado pelo analista do SIGITEC</a:t>
                      </a:r>
                      <a:r>
                        <a:rPr lang="pt-BR" sz="1000" baseline="0" dirty="0" smtClean="0"/>
                        <a:t>. No dia 30/04/2026, A Petrobras habilitou a proposta de aditivo de valor para a obra da </a:t>
                      </a:r>
                      <a:r>
                        <a:rPr lang="pt-BR" sz="1000" baseline="0" dirty="0" err="1" smtClean="0"/>
                        <a:t>Litoteca</a:t>
                      </a:r>
                      <a:r>
                        <a:rPr lang="pt-BR" sz="1000" baseline="0" dirty="0" smtClean="0"/>
                        <a:t>.</a:t>
                      </a:r>
                      <a:endParaRPr lang="pt-BR" sz="1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-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aseline="0" dirty="0" smtClean="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006021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4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Lançamento de site do</a:t>
                      </a:r>
                      <a:r>
                        <a:rPr lang="pt-BR" sz="1050" baseline="0" dirty="0" smtClean="0"/>
                        <a:t> projeto de obras e infraestrutura laboratorial do Complexo Científico e Cultural da Urca. Disponível em: https://sgb.gov.br/obras_museu/</a:t>
                      </a:r>
                      <a:endParaRPr lang="pt-BR" sz="105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-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50" dirty="0" smtClean="0"/>
                        <a:t>Concluído</a:t>
                      </a:r>
                      <a:endParaRPr lang="pt-BR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395408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6" y="405506"/>
            <a:ext cx="4250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09929" y="5460054"/>
            <a:ext cx="3621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Demora da prefeitura do RJ para a licença de obra</a:t>
            </a: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;</a:t>
            </a:r>
            <a:endParaRPr lang="pt-BR" sz="1200" dirty="0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0800000">
            <a:off x="4466727" y="4919585"/>
            <a:ext cx="551157" cy="581270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10585" y="5019662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=""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71908" y="5247289"/>
            <a:ext cx="3647755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sz="1200" dirty="0"/>
          </a:p>
          <a:p>
            <a:pPr marL="342900" indent="-342900" algn="just">
              <a:buAutoNum type="arabicParenR"/>
            </a:pPr>
            <a:r>
              <a:rPr lang="pt-BR" sz="1100" dirty="0"/>
              <a:t>Previsão de abertura das propostas para a obra </a:t>
            </a:r>
            <a:r>
              <a:rPr lang="pt-BR" sz="1100" dirty="0" smtClean="0"/>
              <a:t>da </a:t>
            </a:r>
            <a:r>
              <a:rPr lang="pt-BR" sz="1100" dirty="0" err="1" smtClean="0"/>
              <a:t>Litoteca</a:t>
            </a:r>
            <a:r>
              <a:rPr lang="pt-BR" sz="1100" dirty="0" smtClean="0"/>
              <a:t> Urca no </a:t>
            </a:r>
            <a:r>
              <a:rPr lang="pt-BR" sz="1100" dirty="0"/>
              <a:t>dia </a:t>
            </a:r>
            <a:r>
              <a:rPr lang="pt-BR" sz="1100" dirty="0" smtClean="0"/>
              <a:t>20/05/2026</a:t>
            </a:r>
            <a:r>
              <a:rPr lang="pt-BR" sz="1100" dirty="0"/>
              <a:t>;</a:t>
            </a:r>
          </a:p>
          <a:p>
            <a:pPr marL="342900" indent="-342900" algn="just">
              <a:buAutoNum type="arabicParenR"/>
            </a:pPr>
            <a:r>
              <a:rPr lang="pt-BR" sz="1100" dirty="0" smtClean="0"/>
              <a:t>Aprovação </a:t>
            </a:r>
            <a:r>
              <a:rPr lang="pt-BR" sz="1100" dirty="0"/>
              <a:t>do aditivo de </a:t>
            </a:r>
            <a:r>
              <a:rPr lang="pt-BR" sz="1100" dirty="0" smtClean="0"/>
              <a:t>valor e elaboração </a:t>
            </a:r>
            <a:r>
              <a:rPr lang="pt-BR" sz="1100" dirty="0"/>
              <a:t>da </a:t>
            </a:r>
            <a:r>
              <a:rPr lang="pt-BR" sz="1100" dirty="0" smtClean="0"/>
              <a:t>minuta </a:t>
            </a:r>
            <a:r>
              <a:rPr lang="pt-BR" sz="1100" dirty="0"/>
              <a:t>pela </a:t>
            </a:r>
            <a:r>
              <a:rPr lang="pt-BR" sz="1100" dirty="0" smtClean="0"/>
              <a:t>Petrobras</a:t>
            </a:r>
            <a:r>
              <a:rPr lang="pt-BR" sz="1100" dirty="0"/>
              <a:t>;</a:t>
            </a:r>
            <a:endParaRPr lang="pt-BR" sz="1100" dirty="0" smtClean="0"/>
          </a:p>
          <a:p>
            <a:pPr marL="342900" indent="-342900" algn="just">
              <a:buAutoNum type="arabicParenR"/>
            </a:pPr>
            <a:r>
              <a:rPr lang="pt-BR" sz="1100" dirty="0" smtClean="0"/>
              <a:t>Obtenção </a:t>
            </a:r>
            <a:r>
              <a:rPr lang="pt-BR" sz="1100" dirty="0"/>
              <a:t>da licença de obras </a:t>
            </a:r>
            <a:r>
              <a:rPr lang="pt-BR" sz="1100" dirty="0" smtClean="0"/>
              <a:t>da </a:t>
            </a:r>
            <a:r>
              <a:rPr lang="pt-BR" sz="1100" dirty="0" err="1" smtClean="0"/>
              <a:t>Litoteca</a:t>
            </a:r>
            <a:r>
              <a:rPr lang="pt-BR" sz="1100" dirty="0" smtClean="0"/>
              <a:t> Urca</a:t>
            </a:r>
            <a:endParaRPr lang="pt-BR" sz="1100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83740" y="2271754"/>
            <a:ext cx="38244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A edificação da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dirty="0" smtClean="0">
                <a:latin typeface="Aptos Narrow" panose="020B0004020202020204" pitchFamily="34" charset="0"/>
              </a:rPr>
              <a:t> Urca da Rede SGB de PD &amp; I com Rochas e Fluídos de Bacias Petrolíferas.</a:t>
            </a:r>
            <a:endParaRPr lang="pt-BR" sz="1600" dirty="0">
              <a:latin typeface="Aptos Narrow" panose="020B0004020202020204" pitchFamily="34" charset="0"/>
            </a:endParaRPr>
          </a:p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Construir 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dirty="0" smtClean="0">
                <a:latin typeface="Aptos Narrow" panose="020B0004020202020204" pitchFamily="34" charset="0"/>
              </a:rPr>
              <a:t> que será destinada ao acondicionamento de amostras de testemunhos de sondagem, calha, amostras laterais, plugues, lâminas, fluídos e resíduos de análises. Instalação de laboratórios para unidade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0544" y="1696337"/>
            <a:ext cx="2538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latin typeface="Petrobras Sans" panose="020B0606020204030204" pitchFamily="34" charset="0"/>
              </a:rPr>
              <a:t>Plano de Trabalho</a:t>
            </a:r>
            <a:endParaRPr lang="pt-BR" b="1" dirty="0">
              <a:latin typeface="Petrobras Sans" panose="020B0606020204030204" pitchFamily="34" charset="0"/>
            </a:endParaRP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0544" y="198155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2022/00433-3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73009" y="4880630"/>
            <a:ext cx="1862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6,9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31/07/2025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b="1" dirty="0" smtClean="0">
              <a:solidFill>
                <a:srgbClr val="FFFF00"/>
              </a:solidFill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45946" y="5452331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53496" y="5893620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16,92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2061406" y="491553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2074493" y="5405922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23C2D7D7-676A-BB79-70C3-B5559B2B78A3}"/>
              </a:ext>
            </a:extLst>
          </p:cNvPr>
          <p:cNvSpPr/>
          <p:nvPr/>
        </p:nvSpPr>
        <p:spPr>
          <a:xfrm>
            <a:off x="2076676" y="5896305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3</a:t>
            </a: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50371" y="4897957"/>
            <a:ext cx="312263" cy="312263"/>
          </a:xfrm>
          <a:prstGeom prst="rect">
            <a:avLst/>
          </a:prstGeom>
        </p:spPr>
      </p:pic>
      <p:sp>
        <p:nvSpPr>
          <p:cNvPr id="58" name="CaixaDeTexto 57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 smtClean="0"/>
              <a:t>Publicado</a:t>
            </a:r>
            <a:r>
              <a:rPr lang="pt-BR" sz="1200" dirty="0"/>
              <a:t>, pela FINATEC, </a:t>
            </a:r>
            <a:r>
              <a:rPr lang="pt-BR" sz="1200" dirty="0" smtClean="0"/>
              <a:t>o </a:t>
            </a:r>
            <a:r>
              <a:rPr lang="pt-BR" sz="1200" dirty="0"/>
              <a:t>novo edital de obras </a:t>
            </a:r>
            <a:r>
              <a:rPr lang="pt-BR" sz="1200" dirty="0" smtClean="0"/>
              <a:t>da </a:t>
            </a:r>
            <a:r>
              <a:rPr lang="pt-BR" sz="1200" dirty="0" err="1" smtClean="0"/>
              <a:t>Litoteca</a:t>
            </a:r>
            <a:r>
              <a:rPr lang="pt-BR" sz="1200" dirty="0" smtClean="0"/>
              <a:t> Urca </a:t>
            </a:r>
            <a:r>
              <a:rPr lang="pt-BR" sz="1200" dirty="0"/>
              <a:t>(3° edital);</a:t>
            </a:r>
          </a:p>
          <a:p>
            <a:pPr marL="342900" indent="-342900" algn="just">
              <a:buAutoNum type="arabicParenR"/>
            </a:pPr>
            <a:r>
              <a:rPr lang="pt-BR" sz="1200" dirty="0" smtClean="0"/>
              <a:t>Homologada, pela FINATEC,  </a:t>
            </a:r>
            <a:r>
              <a:rPr lang="pt-BR" sz="1200" dirty="0"/>
              <a:t>a</a:t>
            </a:r>
            <a:r>
              <a:rPr lang="pt-BR" sz="1200" dirty="0" smtClean="0"/>
              <a:t> empresa vencedora do processo licitatório do </a:t>
            </a:r>
            <a:r>
              <a:rPr lang="pt-BR" sz="1200" dirty="0" err="1" smtClean="0"/>
              <a:t>diligenciamento</a:t>
            </a:r>
            <a:r>
              <a:rPr lang="pt-BR" sz="1200" dirty="0" smtClean="0"/>
              <a:t> das obras da </a:t>
            </a:r>
            <a:r>
              <a:rPr lang="pt-BR" sz="1200" dirty="0" err="1" smtClean="0"/>
              <a:t>Litoteca</a:t>
            </a:r>
            <a:r>
              <a:rPr lang="pt-BR" sz="1200" dirty="0" smtClean="0"/>
              <a:t> Urca;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913</TotalTime>
  <Words>381</Words>
  <Application>Microsoft Office PowerPoint</Application>
  <PresentationFormat>Widescreen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90</cp:revision>
  <dcterms:created xsi:type="dcterms:W3CDTF">2025-07-07T09:08:08Z</dcterms:created>
  <dcterms:modified xsi:type="dcterms:W3CDTF">2026-05-04T14:44:46Z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