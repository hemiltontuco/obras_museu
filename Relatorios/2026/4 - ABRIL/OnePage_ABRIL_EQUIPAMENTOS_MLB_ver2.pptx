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0"/>
  </p:normalViewPr>
  <p:slideViewPr>
    <p:cSldViewPr snapToGrid="0" showGuides="1">
      <p:cViewPr varScale="1">
        <p:scale>
          <a:sx n="66" d="100"/>
          <a:sy n="66" d="100"/>
        </p:scale>
        <p:origin x="8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svg"/><Relationship Id="rId13" Type="http://schemas.openxmlformats.org/officeDocument/2006/relationships/image" Target="../media/image120.svg"/><Relationship Id="rId3" Type="http://schemas.openxmlformats.org/officeDocument/2006/relationships/image" Target="../media/image2.png"/><Relationship Id="rId21" Type="http://schemas.openxmlformats.org/officeDocument/2006/relationships/image" Target="../media/image5.png"/><Relationship Id="rId17" Type="http://schemas.openxmlformats.org/officeDocument/2006/relationships/image" Target="../media/image16.svg"/><Relationship Id="rId25" Type="http://schemas.openxmlformats.org/officeDocument/2006/relationships/image" Target="../media/image8.png"/><Relationship Id="rId2" Type="http://schemas.openxmlformats.org/officeDocument/2006/relationships/image" Target="../media/image1.png"/><Relationship Id="rId20" Type="http://schemas.openxmlformats.org/officeDocument/2006/relationships/image" Target="../media/image4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60.svg"/><Relationship Id="rId11" Type="http://schemas.openxmlformats.org/officeDocument/2006/relationships/image" Target="../media/image10.svg"/><Relationship Id="rId15" Type="http://schemas.openxmlformats.org/officeDocument/2006/relationships/image" Target="../media/image14.svg"/><Relationship Id="rId5" Type="http://schemas.openxmlformats.org/officeDocument/2006/relationships/image" Target="../media/image4.svg"/><Relationship Id="rId23" Type="http://schemas.openxmlformats.org/officeDocument/2006/relationships/image" Target="../media/image7.png"/><Relationship Id="rId28" Type="http://schemas.openxmlformats.org/officeDocument/2006/relationships/image" Target="../media/image10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22" Type="http://schemas.openxmlformats.org/officeDocument/2006/relationships/image" Target="../media/image6.png"/><Relationship Id="rId27" Type="http://schemas.openxmlformats.org/officeDocument/2006/relationships/image" Target="../media/image9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</a:t>
            </a:r>
            <a:r>
              <a:rPr lang="pt-BR" sz="1400" b="1" dirty="0" smtClean="0">
                <a:latin typeface="Aptos Narrow" panose="020B0004020202020204" pitchFamily="34" charset="0"/>
              </a:rPr>
              <a:t>25 </a:t>
            </a:r>
            <a:r>
              <a:rPr lang="pt-BR" sz="1400" b="1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</a:t>
            </a:r>
            <a:r>
              <a:rPr lang="pt-BR" sz="1400" b="1" dirty="0" smtClean="0">
                <a:latin typeface="Aptos Narrow" panose="020B0004020202020204" pitchFamily="34" charset="0"/>
              </a:rPr>
              <a:t>15 </a:t>
            </a:r>
            <a:r>
              <a:rPr lang="pt-BR" sz="1400" b="1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1315" y="4948302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90670"/>
              </p:ext>
            </p:extLst>
          </p:nvPr>
        </p:nvGraphicFramePr>
        <p:xfrm>
          <a:off x="4429448" y="2281198"/>
          <a:ext cx="7418223" cy="2270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43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95781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331821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Reformulação </a:t>
                      </a:r>
                      <a:r>
                        <a:rPr lang="pt-BR" sz="1100" baseline="0" dirty="0"/>
                        <a:t>do SIGITEC em virtude da substituição de equipamentos previstos no plano de trabalho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</a:t>
                      </a:r>
                      <a:r>
                        <a:rPr lang="pt-BR" sz="1100" baseline="0" dirty="0"/>
                        <a:t> andamento</a:t>
                      </a:r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  <a:tr h="411136">
                <a:tc>
                  <a:txBody>
                    <a:bodyPr/>
                    <a:lstStyle/>
                    <a:p>
                      <a:r>
                        <a:rPr lang="pt-B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Troca</a:t>
                      </a:r>
                      <a:r>
                        <a:rPr lang="pt-BR" sz="1100" baseline="0" dirty="0"/>
                        <a:t> da titularidade na coordenação da aquisição de equipamento para o CRG. Sairá o Pesquisador Carlos </a:t>
                      </a:r>
                      <a:r>
                        <a:rPr lang="pt-BR" sz="1100" baseline="0" dirty="0" err="1"/>
                        <a:t>Ganade</a:t>
                      </a:r>
                      <a:r>
                        <a:rPr lang="pt-BR" sz="1100" baseline="0" dirty="0"/>
                        <a:t> e entrará o Pesquisador Maurício Borba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Em</a:t>
                      </a:r>
                      <a:r>
                        <a:rPr lang="pt-BR" sz="1100" baseline="0" dirty="0"/>
                        <a:t> andamento</a:t>
                      </a:r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8420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Processo de aquisição do Sistema Laser </a:t>
                      </a:r>
                      <a:r>
                        <a:rPr lang="pt-BR" sz="1100" dirty="0" err="1"/>
                        <a:t>Ablation</a:t>
                      </a:r>
                      <a:r>
                        <a:rPr lang="pt-BR" sz="1100" dirty="0"/>
                        <a:t> da empresa DPUNION/</a:t>
                      </a:r>
                      <a:r>
                        <a:rPr lang="pt-BR" sz="1100" baseline="0" dirty="0"/>
                        <a:t> APPLIED SPECTRA pela FINATEC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88805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Aquisição do NEOMA em</a:t>
                      </a:r>
                      <a:r>
                        <a:rPr lang="pt-BR" sz="1100" baseline="0" dirty="0"/>
                        <a:t> fase final para o pagamento do equipamento para a SENS/Thermo </a:t>
                      </a:r>
                      <a:r>
                        <a:rPr lang="pt-BR" sz="1100" baseline="0" dirty="0" err="1"/>
                        <a:t>Equipments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</a:t>
                      </a:r>
                      <a:r>
                        <a:rPr lang="pt-BR" sz="1100" baseline="0" dirty="0"/>
                        <a:t> andamento</a:t>
                      </a:r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6021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Troca do coordenador responsável pelos equipamentos no SIGITEC;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Autorizado a compra dos equipamentos NEOMA e o Sistema Laser </a:t>
            </a:r>
            <a:r>
              <a:rPr lang="pt-BR" sz="1200" dirty="0" err="1"/>
              <a:t>Ablation</a:t>
            </a:r>
            <a:r>
              <a:rPr lang="pt-BR" sz="1200" dirty="0"/>
              <a:t>.</a:t>
            </a:r>
          </a:p>
          <a:p>
            <a:pPr marL="342900" indent="-342900" algn="just">
              <a:buAutoNum type="arabicParenR"/>
            </a:pPr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48737" y="5327483"/>
            <a:ext cx="3609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Cadastramento dos equipamentos do lab. de Isótopos Estáveis no Sistema </a:t>
            </a:r>
            <a:r>
              <a:rPr lang="pt-BR" sz="1200" dirty="0" err="1"/>
              <a:t>Converniar</a:t>
            </a:r>
            <a:r>
              <a:rPr lang="pt-BR" sz="1200" dirty="0"/>
              <a:t> (FINATEC);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Produção do NEOMA e do Laser </a:t>
            </a:r>
            <a:r>
              <a:rPr lang="pt-BR" sz="1200" dirty="0" err="1"/>
              <a:t>Ablation</a:t>
            </a:r>
            <a:r>
              <a:rPr lang="pt-BR" sz="1200" dirty="0"/>
              <a:t> pelas respectivas empresas responsáveis.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pic>
        <p:nvPicPr>
          <p:cNvPr id="61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11199" y="4866506"/>
            <a:ext cx="551157" cy="551157"/>
          </a:xfrm>
          <a:prstGeom prst="rect">
            <a:avLst/>
          </a:prstGeom>
        </p:spPr>
      </p:pic>
      <p:pic>
        <p:nvPicPr>
          <p:cNvPr id="62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63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pic>
        <p:nvPicPr>
          <p:cNvPr id="66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67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26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pic>
        <p:nvPicPr>
          <p:cNvPr id="64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pic>
        <p:nvPicPr>
          <p:cNvPr id="70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6337" y="4866506"/>
            <a:ext cx="312263" cy="312263"/>
          </a:xfrm>
          <a:prstGeom prst="rect">
            <a:avLst/>
          </a:prstGeom>
        </p:spPr>
      </p:pic>
      <p:pic>
        <p:nvPicPr>
          <p:cNvPr id="71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242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53</cp:revision>
  <dcterms:created xsi:type="dcterms:W3CDTF">2025-07-07T09:08:08Z</dcterms:created>
  <dcterms:modified xsi:type="dcterms:W3CDTF">2026-04-09T15:59:14Z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