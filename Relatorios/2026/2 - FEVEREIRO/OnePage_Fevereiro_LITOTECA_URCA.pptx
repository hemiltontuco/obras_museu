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64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67777" y="5025259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err="1" smtClean="0">
                <a:solidFill>
                  <a:srgbClr val="00B2A9"/>
                </a:solidFill>
                <a:latin typeface="Petrobras Sans" panose="020B0606020204030204" pitchFamily="34" charset="0"/>
              </a:rPr>
              <a:t>Litoteca</a:t>
            </a:r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 URCA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1000"/>
            <a:ext cx="7514119" cy="3302504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47679" y="5019662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19693" y="158626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2924" y="1610898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9693" y="1845321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20/05/2025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995603" y="159235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950128" y="1844127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19/05/2027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8506157" y="1728912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7336" y="4880630"/>
            <a:ext cx="581735" cy="581735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273321" y="5452331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3236" y="1713568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811801" y="4793778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351232" y="1631344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4922094" y="1698441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16452" y="1661415"/>
            <a:ext cx="0" cy="513555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805801" y="5090722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51054" y="5027754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297049"/>
              </p:ext>
            </p:extLst>
          </p:nvPr>
        </p:nvGraphicFramePr>
        <p:xfrm>
          <a:off x="4374784" y="2171864"/>
          <a:ext cx="7497249" cy="25527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93001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076967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832514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994767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r>
                        <a:rPr lang="pt-BR" sz="11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1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A FJA e o SGB estão atendendo às exigências constantes nos comunicados (“comunique-se”) da SMDU e de outros órgãos do Município do Rio de Janeiro (GEORIO, DPA-DPE, CET-RIO, SUBCLA e ARV), com vistas à obtenção da Licença Unificada de Obras.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3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Em análise</a:t>
                      </a:r>
                      <a:r>
                        <a:rPr lang="pt-BR" sz="1000" baseline="0" dirty="0" smtClean="0"/>
                        <a:t> –</a:t>
                      </a:r>
                      <a:r>
                        <a:rPr lang="pt-BR" sz="1000" baseline="0" dirty="0"/>
                        <a:t> </a:t>
                      </a:r>
                      <a:r>
                        <a:rPr lang="pt-BR" sz="1000" baseline="0" dirty="0" smtClean="0"/>
                        <a:t>Prefeitura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475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2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O segundo</a:t>
                      </a:r>
                      <a:r>
                        <a:rPr lang="pt-BR" sz="1050" baseline="0" dirty="0" smtClean="0"/>
                        <a:t> edital de obras do CRG – seleção pública n° 211/2025 </a:t>
                      </a:r>
                      <a:r>
                        <a:rPr lang="pt-BR" sz="1050" baseline="0" dirty="0" smtClean="0"/>
                        <a:t>– foi fracassado. </a:t>
                      </a:r>
                      <a:r>
                        <a:rPr lang="pt-BR" sz="1050" baseline="0" dirty="0" smtClean="0"/>
                        <a:t>A única empresa interessada não foi habilitada.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-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aseline="0" dirty="0" smtClean="0"/>
                        <a:t>Concluído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6789026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3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 smtClean="0"/>
                        <a:t>O processo licitatório do</a:t>
                      </a:r>
                      <a:r>
                        <a:rPr lang="pt-BR" sz="1050" baseline="0" dirty="0" smtClean="0"/>
                        <a:t> </a:t>
                      </a:r>
                      <a:r>
                        <a:rPr lang="pt-BR" sz="1050" baseline="0" dirty="0" err="1" smtClean="0"/>
                        <a:t>diligenciamento</a:t>
                      </a:r>
                      <a:r>
                        <a:rPr lang="pt-BR" sz="1050" baseline="0" dirty="0" smtClean="0"/>
                        <a:t> da obra da </a:t>
                      </a:r>
                      <a:r>
                        <a:rPr lang="pt-BR" sz="1050" baseline="0" dirty="0" err="1" smtClean="0"/>
                        <a:t>Litoteca</a:t>
                      </a:r>
                      <a:r>
                        <a:rPr lang="pt-BR" sz="1050" baseline="0" dirty="0" smtClean="0"/>
                        <a:t> foi concluído. A empresa Filipe </a:t>
                      </a:r>
                      <a:r>
                        <a:rPr lang="pt-BR" sz="1050" baseline="0" dirty="0" err="1" smtClean="0"/>
                        <a:t>Jacopucci</a:t>
                      </a:r>
                      <a:r>
                        <a:rPr lang="pt-BR" sz="1050" baseline="0" dirty="0" smtClean="0"/>
                        <a:t> Arquitetura LTDA foi homologada como a vencedora.</a:t>
                      </a:r>
                      <a:endParaRPr lang="pt-BR" sz="105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-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aseline="0" dirty="0" smtClean="0"/>
                        <a:t>Concluído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338762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4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1" dirty="0" smtClean="0"/>
                        <a:t>Elaboração do 3º Edital de Obras da </a:t>
                      </a:r>
                      <a:r>
                        <a:rPr lang="pt-BR" sz="1050" b="1" dirty="0" err="1" smtClean="0"/>
                        <a:t>Litoteca</a:t>
                      </a:r>
                      <a:r>
                        <a:rPr lang="pt-BR" sz="1050" b="1" dirty="0" smtClean="0"/>
                        <a:t> Urca</a:t>
                      </a:r>
                      <a:r>
                        <a:rPr lang="pt-BR" sz="1050" dirty="0" smtClean="0"/>
                        <a:t>, contemplando, em relação às versões anteriores, a substituição da plataforma </a:t>
                      </a:r>
                      <a:r>
                        <a:rPr lang="pt-BR" sz="1050" b="1" dirty="0" smtClean="0"/>
                        <a:t>BLL</a:t>
                      </a:r>
                      <a:r>
                        <a:rPr lang="pt-BR" sz="1050" dirty="0" smtClean="0"/>
                        <a:t> pela </a:t>
                      </a:r>
                      <a:r>
                        <a:rPr lang="pt-BR" sz="1050" b="1" dirty="0" err="1" smtClean="0"/>
                        <a:t>ComprasNet</a:t>
                      </a:r>
                      <a:r>
                        <a:rPr lang="pt-BR" sz="1050" dirty="0" smtClean="0"/>
                        <a:t> para a condução do certame.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 smtClean="0"/>
                        <a:t>¼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aseline="0" dirty="0" smtClean="0"/>
                        <a:t>Em 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117007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6" y="405506"/>
            <a:ext cx="4250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09929" y="5460054"/>
            <a:ext cx="3621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Demora da prefeitura do RJ para a licença de obra;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Impossibilidade momentânea da Petrobras arcar com os novos custos das obras</a:t>
            </a: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0800000">
            <a:off x="4466727" y="4919585"/>
            <a:ext cx="551157" cy="581270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10585" y="5019662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=""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71908" y="5247289"/>
            <a:ext cx="364775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sz="1200" dirty="0"/>
          </a:p>
          <a:p>
            <a:pPr marL="342900" indent="-342900" algn="just">
              <a:buAutoNum type="arabicParenR"/>
            </a:pPr>
            <a:r>
              <a:rPr lang="pt-BR" sz="1100" dirty="0"/>
              <a:t>Publicação do novo edital de obras </a:t>
            </a:r>
            <a:r>
              <a:rPr lang="pt-BR" sz="1100" dirty="0" smtClean="0"/>
              <a:t>da </a:t>
            </a:r>
            <a:r>
              <a:rPr lang="pt-BR" sz="1100" dirty="0" err="1" smtClean="0"/>
              <a:t>Litoteca</a:t>
            </a:r>
            <a:r>
              <a:rPr lang="pt-BR" sz="1100" dirty="0" smtClean="0"/>
              <a:t> Urca (3</a:t>
            </a:r>
            <a:r>
              <a:rPr lang="pt-BR" sz="1100" dirty="0"/>
              <a:t>° edital);</a:t>
            </a:r>
          </a:p>
          <a:p>
            <a:pPr marL="342900" indent="-342900" algn="just">
              <a:buFontTx/>
              <a:buAutoNum type="arabicParenR"/>
            </a:pPr>
            <a:r>
              <a:rPr lang="pt-BR" sz="1100" dirty="0" smtClean="0"/>
              <a:t>Elaboração </a:t>
            </a:r>
            <a:r>
              <a:rPr lang="pt-BR" sz="1100" dirty="0"/>
              <a:t>do contrato com a empresa </a:t>
            </a:r>
            <a:r>
              <a:rPr lang="pt-BR" sz="1100" dirty="0" smtClean="0"/>
              <a:t>Filipe </a:t>
            </a:r>
            <a:r>
              <a:rPr lang="pt-BR" sz="1100" dirty="0" err="1" smtClean="0"/>
              <a:t>Jacopucci</a:t>
            </a:r>
            <a:r>
              <a:rPr lang="pt-BR" sz="1100" dirty="0" smtClean="0"/>
              <a:t> Arquitetura para </a:t>
            </a:r>
            <a:r>
              <a:rPr lang="pt-BR" sz="1100" dirty="0"/>
              <a:t>o </a:t>
            </a:r>
            <a:r>
              <a:rPr lang="pt-BR" sz="1100" dirty="0" err="1"/>
              <a:t>diligenciamento</a:t>
            </a:r>
            <a:r>
              <a:rPr lang="pt-BR" sz="1100" dirty="0"/>
              <a:t> da obra </a:t>
            </a:r>
            <a:r>
              <a:rPr lang="pt-BR" sz="1100" dirty="0" smtClean="0"/>
              <a:t>da </a:t>
            </a:r>
            <a:r>
              <a:rPr lang="pt-BR" sz="1100" dirty="0" err="1" smtClean="0"/>
              <a:t>Litoteca</a:t>
            </a:r>
            <a:r>
              <a:rPr lang="pt-BR" sz="1100" dirty="0" smtClean="0"/>
              <a:t> Urca;</a:t>
            </a:r>
            <a:endParaRPr lang="pt-BR" sz="1100" dirty="0"/>
          </a:p>
          <a:p>
            <a:pPr marL="342900" indent="-342900" algn="just">
              <a:buAutoNum type="arabicParenR"/>
            </a:pPr>
            <a:r>
              <a:rPr lang="pt-BR" sz="1100" dirty="0"/>
              <a:t>Obtenção da licença de obras;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383740" y="2271754"/>
            <a:ext cx="38244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 smtClean="0">
                <a:latin typeface="Aptos Narrow" panose="020B0004020202020204" pitchFamily="34" charset="0"/>
              </a:rPr>
              <a:t>A edificação da </a:t>
            </a:r>
            <a:r>
              <a:rPr lang="pt-BR" sz="1600" dirty="0" err="1" smtClean="0">
                <a:latin typeface="Aptos Narrow" panose="020B0004020202020204" pitchFamily="34" charset="0"/>
              </a:rPr>
              <a:t>Litoteca</a:t>
            </a:r>
            <a:r>
              <a:rPr lang="pt-BR" sz="1600" dirty="0" smtClean="0">
                <a:latin typeface="Aptos Narrow" panose="020B0004020202020204" pitchFamily="34" charset="0"/>
              </a:rPr>
              <a:t> Urca da Rede SGB de PD &amp; I com Rochas e Fluídos de Bacias Petrolíferas.</a:t>
            </a:r>
            <a:endParaRPr lang="pt-BR" sz="1600" dirty="0">
              <a:latin typeface="Aptos Narrow" panose="020B0004020202020204" pitchFamily="34" charset="0"/>
            </a:endParaRPr>
          </a:p>
          <a:p>
            <a:pPr algn="just"/>
            <a:r>
              <a:rPr lang="pt-BR" sz="1600" dirty="0" smtClean="0">
                <a:latin typeface="Aptos Narrow" panose="020B0004020202020204" pitchFamily="34" charset="0"/>
              </a:rPr>
              <a:t>Construir a </a:t>
            </a:r>
            <a:r>
              <a:rPr lang="pt-BR" sz="1600" dirty="0" err="1" smtClean="0">
                <a:latin typeface="Aptos Narrow" panose="020B0004020202020204" pitchFamily="34" charset="0"/>
              </a:rPr>
              <a:t>Litoteca</a:t>
            </a:r>
            <a:r>
              <a:rPr lang="pt-BR" sz="1600" dirty="0" smtClean="0">
                <a:latin typeface="Aptos Narrow" panose="020B0004020202020204" pitchFamily="34" charset="0"/>
              </a:rPr>
              <a:t> que será destinada ao acondicionamento de amostras de testemunhos de sondagem, calha, amostras laterais, plugues, lâminas, fluídos e resíduos de análises. Instalação de laboratórios para unidade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0544" y="1696337"/>
            <a:ext cx="2538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latin typeface="Petrobras Sans" panose="020B0606020204030204" pitchFamily="34" charset="0"/>
              </a:rPr>
              <a:t>Plano de Trabalho</a:t>
            </a:r>
            <a:endParaRPr lang="pt-BR" b="1" dirty="0">
              <a:latin typeface="Petrobras Sans" panose="020B0606020204030204" pitchFamily="34" charset="0"/>
            </a:endParaRP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0544" y="198155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2022/00433-3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73009" y="4880630"/>
            <a:ext cx="1862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6,9 MM</a:t>
            </a:r>
          </a:p>
          <a:p>
            <a:r>
              <a:rPr lang="pt-BR" sz="1200" dirty="0" smtClean="0">
                <a:latin typeface="Aptos Narrow" panose="020B0004020202020204" pitchFamily="34" charset="0"/>
              </a:rPr>
              <a:t>31/07/2025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b="1" dirty="0" smtClean="0">
              <a:solidFill>
                <a:srgbClr val="FFFF00"/>
              </a:solidFill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45946" y="5452331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5,0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53496" y="5893620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5,0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90469" y="5928963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16,92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2061406" y="491553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2074493" y="5405922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23C2D7D7-676A-BB79-70C3-B5559B2B78A3}"/>
              </a:ext>
            </a:extLst>
          </p:cNvPr>
          <p:cNvSpPr/>
          <p:nvPr/>
        </p:nvSpPr>
        <p:spPr>
          <a:xfrm>
            <a:off x="2076676" y="5896305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3</a:t>
            </a:r>
          </a:p>
        </p:txBody>
      </p:sp>
      <p:pic>
        <p:nvPicPr>
          <p:cNvPr id="62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350371" y="4897957"/>
            <a:ext cx="312263" cy="312263"/>
          </a:xfrm>
          <a:prstGeom prst="rect">
            <a:avLst/>
          </a:prstGeom>
        </p:spPr>
      </p:pic>
      <p:sp>
        <p:nvSpPr>
          <p:cNvPr id="58" name="CaixaDeTexto 57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73814" y="354715"/>
            <a:ext cx="42509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FontTx/>
              <a:buAutoNum type="arabicParenR"/>
            </a:pPr>
            <a:r>
              <a:rPr lang="pt-BR" sz="1200" dirty="0"/>
              <a:t>Elaboração do novo edital de obras </a:t>
            </a:r>
            <a:r>
              <a:rPr lang="pt-BR" sz="1200" dirty="0" smtClean="0"/>
              <a:t>da </a:t>
            </a:r>
            <a:r>
              <a:rPr lang="pt-BR" sz="1200" dirty="0" err="1" smtClean="0"/>
              <a:t>Litoteca</a:t>
            </a:r>
            <a:r>
              <a:rPr lang="pt-BR" sz="1200" smtClean="0"/>
              <a:t> Urca (3</a:t>
            </a:r>
            <a:r>
              <a:rPr lang="pt-BR" sz="1200" dirty="0"/>
              <a:t>° edital</a:t>
            </a:r>
            <a:r>
              <a:rPr lang="pt-BR" sz="1200" dirty="0" smtClean="0"/>
              <a:t>)</a:t>
            </a:r>
          </a:p>
          <a:p>
            <a:pPr marL="342900" indent="-342900" algn="just">
              <a:buAutoNum type="arabicParenR"/>
            </a:pPr>
            <a:r>
              <a:rPr lang="pt-BR" sz="1200" dirty="0" smtClean="0"/>
              <a:t>Homologação, pela FINATEC,  da empresa vencedora do processo licitatório do </a:t>
            </a:r>
            <a:r>
              <a:rPr lang="pt-BR" sz="1200" dirty="0" err="1" smtClean="0"/>
              <a:t>diligenciamento</a:t>
            </a:r>
            <a:r>
              <a:rPr lang="pt-BR" sz="1200" dirty="0" smtClean="0"/>
              <a:t> das obras da </a:t>
            </a:r>
            <a:r>
              <a:rPr lang="pt-BR" sz="1200" dirty="0" err="1" smtClean="0"/>
              <a:t>Litoteca</a:t>
            </a:r>
            <a:r>
              <a:rPr lang="pt-BR" sz="1200" dirty="0" smtClean="0"/>
              <a:t> Urca;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874</TotalTime>
  <Words>344</Words>
  <Application>Microsoft Office PowerPoint</Application>
  <PresentationFormat>Widescreen</PresentationFormat>
  <Paragraphs>52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80</cp:revision>
  <dcterms:created xsi:type="dcterms:W3CDTF">2025-07-07T09:08:08Z</dcterms:created>
  <dcterms:modified xsi:type="dcterms:W3CDTF">2026-03-01T23:42:45Z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