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1166" y="2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57681" y="4901149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333464"/>
            <a:ext cx="370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>
                <a:solidFill>
                  <a:srgbClr val="00B2A9"/>
                </a:solidFill>
                <a:latin typeface="Petrobras Sans" panose="020B0606020204030204" pitchFamily="34" charset="0"/>
              </a:rPr>
              <a:t>Centro de Referência em Geociências - Equipamentos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85218" y="1650999"/>
            <a:ext cx="7514119" cy="3096053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47680" y="4901149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433917" y="2364234"/>
            <a:ext cx="3708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ptos Narrow" panose="020B0004020202020204" pitchFamily="34" charset="0"/>
              </a:rPr>
              <a:t>Aquisição de equipamentos para o Centro de Referências em Geociências do SGB para os laboratórios: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1. Preparação de Amostras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2. Imageamento e Análise Mineral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3. Petrocronologia e Traçadores Isotópicos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4. Isótopos Estáveis Avançado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08942" y="1626421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0662" y="1629605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08942" y="1863514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15/05/2025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640519" y="1637477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640519" y="1874570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14/05/2027</a:t>
            </a: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8178520" y="1668590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1789" y="4980189"/>
            <a:ext cx="581735" cy="581735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489232" y="5548106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420030" y="5903619"/>
            <a:ext cx="1465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ptos Narrow" panose="020B0004020202020204" pitchFamily="34" charset="0"/>
              </a:rPr>
              <a:t>R$ 56,4 MM</a:t>
            </a:r>
          </a:p>
        </p:txBody>
      </p:sp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3917" y="1762288"/>
            <a:ext cx="539750" cy="539750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225" y="1745057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225" y="203027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2023/00601-6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2203819" y="4966726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2216906" y="545710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23C2D7D7-676A-BB79-70C3-B5559B2B78A3}"/>
              </a:ext>
            </a:extLst>
          </p:cNvPr>
          <p:cNvSpPr/>
          <p:nvPr/>
        </p:nvSpPr>
        <p:spPr>
          <a:xfrm>
            <a:off x="2219089" y="5947492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3</a:t>
            </a:r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975112" y="4949144"/>
            <a:ext cx="0" cy="1334124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545488" y="4903256"/>
            <a:ext cx="1465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R$ 16,4 MM</a:t>
            </a:r>
          </a:p>
          <a:p>
            <a:r>
              <a:rPr lang="pt-BR" sz="1400" dirty="0">
                <a:latin typeface="Aptos Narrow" panose="020B0004020202020204" pitchFamily="34" charset="0"/>
              </a:rPr>
              <a:t>24/06/2025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583F4BC1-5D40-DD68-F709-3BFF903E4A6E}"/>
              </a:ext>
            </a:extLst>
          </p:cNvPr>
          <p:cNvSpPr txBox="1">
            <a:spLocks/>
          </p:cNvSpPr>
          <p:nvPr/>
        </p:nvSpPr>
        <p:spPr>
          <a:xfrm>
            <a:off x="2545488" y="5462317"/>
            <a:ext cx="1465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R$ 30 MM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545488" y="5883218"/>
            <a:ext cx="1465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R$ 10 MM</a:t>
            </a:r>
          </a:p>
        </p:txBody>
      </p: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29448" y="1618397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4958853" y="1712871"/>
            <a:ext cx="181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79536" y="1675851"/>
            <a:ext cx="0" cy="438538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71449" y="4975878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58854" y="4999425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087368"/>
              </p:ext>
            </p:extLst>
          </p:nvPr>
        </p:nvGraphicFramePr>
        <p:xfrm>
          <a:off x="4429448" y="2221581"/>
          <a:ext cx="7418223" cy="260892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73669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143923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895781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Reformulação </a:t>
                      </a:r>
                      <a:r>
                        <a:rPr lang="pt-BR" sz="1000" baseline="0" dirty="0"/>
                        <a:t>do SIGITEC em virtude do cancelamento de equipamentos previstos no plano de trabalho e inserção de novos equipamentos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Em</a:t>
                      </a:r>
                      <a:r>
                        <a:rPr lang="pt-BR" sz="1000" baseline="0" dirty="0"/>
                        <a:t>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396620"/>
                  </a:ext>
                </a:extLst>
              </a:tr>
              <a:tr h="460431">
                <a:tc>
                  <a:txBody>
                    <a:bodyPr/>
                    <a:lstStyle/>
                    <a:p>
                      <a:r>
                        <a:rPr lang="pt-BR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Elaboração de razão técnica para a compra do Sistema Laser </a:t>
                      </a:r>
                      <a:r>
                        <a:rPr lang="pt-BR" sz="1000" dirty="0" err="1"/>
                        <a:t>Ablation</a:t>
                      </a:r>
                      <a:r>
                        <a:rPr lang="pt-BR" sz="1000" dirty="0"/>
                        <a:t> da </a:t>
                      </a:r>
                      <a:r>
                        <a:rPr lang="pt-BR" sz="1000" dirty="0" err="1"/>
                        <a:t>Applied</a:t>
                      </a:r>
                      <a:r>
                        <a:rPr lang="pt-BR" sz="1000" dirty="0"/>
                        <a:t> </a:t>
                      </a:r>
                      <a:r>
                        <a:rPr lang="pt-BR" sz="1000" dirty="0" err="1"/>
                        <a:t>Spectra</a:t>
                      </a:r>
                      <a:r>
                        <a:rPr lang="pt-BR" sz="1000" dirty="0"/>
                        <a:t> </a:t>
                      </a:r>
                      <a:r>
                        <a:rPr lang="pt-BR" sz="1000" dirty="0" err="1"/>
                        <a:t>Inc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Em</a:t>
                      </a:r>
                      <a:r>
                        <a:rPr lang="pt-BR" sz="1000" baseline="0" dirty="0"/>
                        <a:t>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624670"/>
                  </a:ext>
                </a:extLst>
              </a:tr>
              <a:tr h="411136">
                <a:tc>
                  <a:txBody>
                    <a:bodyPr/>
                    <a:lstStyle/>
                    <a:p>
                      <a:r>
                        <a:rPr lang="pt-BR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Troca</a:t>
                      </a:r>
                      <a:r>
                        <a:rPr lang="pt-BR" sz="1000" baseline="0" dirty="0"/>
                        <a:t> da titularidade na coordenação da aquisição de equipamento para o CRG. Sairá o Pesquisador Carlos </a:t>
                      </a:r>
                      <a:r>
                        <a:rPr lang="pt-BR" sz="1000" baseline="0" dirty="0" err="1"/>
                        <a:t>Ganade</a:t>
                      </a:r>
                      <a:r>
                        <a:rPr lang="pt-BR" sz="1000" baseline="0" dirty="0"/>
                        <a:t> e entrará o Pesquisador Maurício Borba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Em</a:t>
                      </a:r>
                      <a:r>
                        <a:rPr lang="pt-BR" sz="1000" baseline="0" dirty="0"/>
                        <a:t>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584204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Finalização da negociação para aquisição dos espectrômetros Horizon 2 e Perspective</a:t>
                      </a:r>
                      <a:r>
                        <a:rPr lang="pt-BR" sz="1000" baseline="0" dirty="0"/>
                        <a:t> (NU </a:t>
                      </a:r>
                      <a:r>
                        <a:rPr lang="pt-BR" sz="1000" baseline="0" dirty="0" err="1"/>
                        <a:t>Instruments</a:t>
                      </a:r>
                      <a:r>
                        <a:rPr lang="pt-BR" sz="1000" baseline="0" dirty="0"/>
                        <a:t>) para o laboratório de Isótopos Estáveis para dar início ao processo de compra. Avaliação do equipamento </a:t>
                      </a:r>
                      <a:r>
                        <a:rPr lang="pt-BR" sz="1000" baseline="0" dirty="0" err="1"/>
                        <a:t>Orbitrap</a:t>
                      </a:r>
                      <a:r>
                        <a:rPr lang="pt-BR" sz="1000" baseline="0" dirty="0"/>
                        <a:t> (Thermo)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Em 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88805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Aquisição do NEOMA em</a:t>
                      </a:r>
                      <a:r>
                        <a:rPr lang="pt-BR" sz="1000" baseline="0" dirty="0"/>
                        <a:t> fase final para o pagamento de 50% do equipamento para a SENS/</a:t>
                      </a:r>
                      <a:r>
                        <a:rPr lang="pt-BR" sz="1000" baseline="0" dirty="0" err="1"/>
                        <a:t>Thermo</a:t>
                      </a:r>
                      <a:r>
                        <a:rPr lang="pt-BR" sz="1000" baseline="0" dirty="0"/>
                        <a:t> </a:t>
                      </a:r>
                      <a:r>
                        <a:rPr lang="pt-BR" sz="1000" baseline="0" dirty="0" err="1"/>
                        <a:t>Equipaments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Em</a:t>
                      </a:r>
                      <a:r>
                        <a:rPr lang="pt-BR" sz="1000" baseline="0" dirty="0"/>
                        <a:t>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060215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/>
              <a:t>Troca do coordenador responsável pelos equipamentos no SIGITEC;</a:t>
            </a:r>
          </a:p>
          <a:p>
            <a:pPr marL="342900" indent="-342900" algn="just">
              <a:buAutoNum type="arabicParenR"/>
            </a:pPr>
            <a:endParaRPr lang="pt-BR" sz="1200" dirty="0"/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144D084B-70A7-B767-2F59-CB16F5008E9B}"/>
              </a:ext>
            </a:extLst>
          </p:cNvPr>
          <p:cNvSpPr txBox="1">
            <a:spLocks/>
          </p:cNvSpPr>
          <p:nvPr/>
        </p:nvSpPr>
        <p:spPr>
          <a:xfrm>
            <a:off x="4429449" y="5354568"/>
            <a:ext cx="36096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/>
              <a:t>Cadastramento dos equipamentos do lab. de Isótopos Estáveis no Sistema </a:t>
            </a:r>
            <a:r>
              <a:rPr lang="pt-BR" sz="1200" dirty="0" err="1"/>
              <a:t>Converniar</a:t>
            </a:r>
            <a:r>
              <a:rPr lang="pt-BR" sz="1200" dirty="0"/>
              <a:t> (FINATEC);</a:t>
            </a:r>
          </a:p>
          <a:p>
            <a:pPr marL="342900" indent="-342900" algn="just">
              <a:buAutoNum type="arabicParenR"/>
            </a:pPr>
            <a:r>
              <a:rPr lang="pt-BR" sz="1200" dirty="0"/>
              <a:t>Produção do NEOMA pela empresa responsável.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74809" y="5365129"/>
            <a:ext cx="34369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Variação Cambial;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Tempo de Construção do Prédio;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Processo de Importação; 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 Instalação dos Equipamentos</a:t>
            </a: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0800000">
            <a:off x="4448738" y="4917629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76233" y="4904818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646514" y="4880945"/>
            <a:ext cx="312263" cy="31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742</TotalTime>
  <Words>275</Words>
  <Application>Microsoft Office PowerPoint</Application>
  <PresentationFormat>Widescreen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Maurício Borba</cp:lastModifiedBy>
  <cp:revision>46</cp:revision>
  <dcterms:created xsi:type="dcterms:W3CDTF">2025-07-07T09:08:08Z</dcterms:created>
  <dcterms:modified xsi:type="dcterms:W3CDTF">2026-03-02T17:23:33Z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