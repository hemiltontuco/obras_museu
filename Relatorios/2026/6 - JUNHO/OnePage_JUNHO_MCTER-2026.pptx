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13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099917" y="1686200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98366" y="1678769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099917" y="1923293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84366" y="167476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84366" y="191185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22367" y="1705879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46619" y="1706088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17481" y="1773185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381" y="1735882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6503" y="5063079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33981"/>
              </p:ext>
            </p:extLst>
          </p:nvPr>
        </p:nvGraphicFramePr>
        <p:xfrm>
          <a:off x="4379718" y="2263673"/>
          <a:ext cx="7415653" cy="2377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8514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7604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83580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751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No dia 10/04/2026, todas as pendências</a:t>
                      </a:r>
                      <a:r>
                        <a:rPr lang="pt-BR" sz="1000" baseline="0" dirty="0" smtClean="0"/>
                        <a:t> junto </a:t>
                      </a:r>
                      <a:r>
                        <a:rPr lang="pt-BR" sz="1000" dirty="0" smtClean="0"/>
                        <a:t>o à SMDU (Prefeitura do Rio de Janeiro),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dirty="0" smtClean="0"/>
                        <a:t>para a obra do MCTER, foram atendidas. Desta forma, </a:t>
                      </a:r>
                      <a:r>
                        <a:rPr lang="pt-BR" sz="1000" baseline="0" dirty="0" smtClean="0"/>
                        <a:t> obteve-se a licenças.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362718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Substituição</a:t>
                      </a:r>
                      <a:r>
                        <a:rPr lang="pt-BR" sz="1000" baseline="0" dirty="0" smtClean="0"/>
                        <a:t> concluída do Profissional Responsável pela Execução da Obra (PREO) – saída do engenheiro da FINATEC (indicado no período de obtenção da licença) e entrada do engenheiro responsável da </a:t>
                      </a:r>
                      <a:r>
                        <a:rPr lang="pt-BR" sz="1000" baseline="0" dirty="0" err="1" smtClean="0"/>
                        <a:t>Construpower</a:t>
                      </a:r>
                      <a:r>
                        <a:rPr lang="pt-BR" sz="1000" baseline="0" dirty="0" smtClean="0"/>
                        <a:t> Engenharia LTDA.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19906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Movimentação do acervo do MCTER,</a:t>
                      </a:r>
                      <a:r>
                        <a:rPr lang="pt-BR" sz="1000" baseline="0" dirty="0" smtClean="0"/>
                        <a:t> Almoxarifado e Arquivos </a:t>
                      </a:r>
                      <a:r>
                        <a:rPr lang="pt-BR" sz="1000" baseline="0" dirty="0" err="1" smtClean="0"/>
                        <a:t>Multimeiros</a:t>
                      </a:r>
                      <a:r>
                        <a:rPr lang="pt-BR" sz="1000" baseline="0" dirty="0" smtClean="0"/>
                        <a:t> para a guarda externa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6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Atividades</a:t>
                      </a:r>
                      <a:r>
                        <a:rPr lang="pt-BR" sz="1000" baseline="0" dirty="0" smtClean="0"/>
                        <a:t> de implantação do obra: i) Montagem do canteiro de obra; </a:t>
                      </a:r>
                      <a:r>
                        <a:rPr lang="pt-BR" sz="1000" baseline="0" dirty="0" err="1" smtClean="0"/>
                        <a:t>ii</a:t>
                      </a:r>
                      <a:r>
                        <a:rPr lang="pt-BR" sz="1000" baseline="0" dirty="0" smtClean="0"/>
                        <a:t>) Ligações provisórias para a obra; </a:t>
                      </a:r>
                      <a:r>
                        <a:rPr lang="pt-BR" sz="1000" baseline="0" dirty="0" err="1" smtClean="0"/>
                        <a:t>iii</a:t>
                      </a:r>
                      <a:r>
                        <a:rPr lang="pt-BR" sz="1000" baseline="0" dirty="0" smtClean="0"/>
                        <a:t>) Demolições gerais em todo prédio; </a:t>
                      </a:r>
                      <a:r>
                        <a:rPr lang="pt-BR" sz="1000" baseline="0" dirty="0" err="1" smtClean="0"/>
                        <a:t>iv</a:t>
                      </a:r>
                      <a:r>
                        <a:rPr lang="pt-BR" sz="1000" baseline="0" dirty="0" smtClean="0"/>
                        <a:t>) Limpeza do bloco A6 (área incendiada); v) Apoio a desocupação do prédio; vi) Planejamento detalhado dos serviços da fachada; </a:t>
                      </a:r>
                      <a:r>
                        <a:rPr lang="pt-BR" sz="1000" baseline="0" dirty="0" err="1" smtClean="0"/>
                        <a:t>vii</a:t>
                      </a:r>
                      <a:r>
                        <a:rPr lang="pt-BR" sz="1000" baseline="0" dirty="0" smtClean="0"/>
                        <a:t>) Desmontagem das instalações; </a:t>
                      </a:r>
                      <a:r>
                        <a:rPr lang="pt-BR" sz="1000" baseline="0" dirty="0" err="1" smtClean="0"/>
                        <a:t>viii</a:t>
                      </a:r>
                      <a:r>
                        <a:rPr lang="pt-BR" sz="1000" baseline="0" dirty="0" smtClean="0"/>
                        <a:t>) Demolição dos mezaninos.</a:t>
                      </a:r>
                      <a:endParaRPr lang="pt-B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16365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19586" y="4977631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48205" y="5430905"/>
            <a:ext cx="3657327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Retirada do acervo do MCTER, 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BR" sz="1050" smtClean="0">
                <a:latin typeface="Arial" panose="020B0604020202020204" pitchFamily="34" charset="0"/>
                <a:cs typeface="Arial" panose="020B0604020202020204" pitchFamily="34" charset="0"/>
              </a:rPr>
              <a:t>arquivos técnicos 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BR" sz="1050" dirty="0" err="1">
                <a:latin typeface="Arial" panose="020B0604020202020204" pitchFamily="34" charset="0"/>
                <a:cs typeface="Arial" panose="020B0604020202020204" pitchFamily="34" charset="0"/>
              </a:rPr>
              <a:t>Multimeios</a:t>
            </a:r>
            <a:r>
              <a:rPr lang="pt-BR" sz="1050" dirty="0">
                <a:latin typeface="Arial" panose="020B0604020202020204" pitchFamily="34" charset="0"/>
                <a:cs typeface="Arial" panose="020B0604020202020204" pitchFamily="34" charset="0"/>
              </a:rPr>
              <a:t> e dos arquivos físicos do 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Almoxarifado;</a:t>
            </a:r>
          </a:p>
          <a:p>
            <a:pPr marL="342900" indent="-342900" algn="just">
              <a:buAutoNum type="arabicParenR"/>
            </a:pP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i) Concluir a etapa de implantação do canteiro de obras; </a:t>
            </a:r>
            <a:r>
              <a:rPr lang="pt-BR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) Finalizar a demolição principal; </a:t>
            </a:r>
            <a:r>
              <a:rPr lang="pt-BR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) Iniciar a estrutura do A6; </a:t>
            </a:r>
            <a:r>
              <a:rPr lang="pt-BR" sz="105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iv</a:t>
            </a:r>
            <a:r>
              <a:rPr lang="pt-BR" sz="1050" dirty="0" smtClean="0">
                <a:latin typeface="Arial" panose="020B0604020202020204" pitchFamily="34" charset="0"/>
                <a:cs typeface="Arial" panose="020B0604020202020204" pitchFamily="34" charset="0"/>
              </a:rPr>
              <a:t>) Iniciar o revestimento interno do A4; v) Iniciar os serviços na cobertura do prédio.</a:t>
            </a:r>
            <a:endParaRPr lang="pt-B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99,207 MM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35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82623" y="479260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/>
              <a:t>Implantação da obra pela empresa </a:t>
            </a:r>
            <a:r>
              <a:rPr lang="pt-BR" sz="1200" dirty="0" err="1" smtClean="0"/>
              <a:t>Construpower</a:t>
            </a:r>
            <a:r>
              <a:rPr lang="pt-BR" sz="1200" dirty="0"/>
              <a:t> </a:t>
            </a:r>
            <a:r>
              <a:rPr lang="pt-BR" sz="1200" dirty="0" smtClean="0"/>
              <a:t>Engenharia LTDA;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 err="1" smtClean="0"/>
              <a:t>Diligenciamento</a:t>
            </a:r>
            <a:r>
              <a:rPr lang="pt-BR" sz="1200" dirty="0" smtClean="0"/>
              <a:t> do andamento da obra pela empresa Ferraz Carvalho Soluções;</a:t>
            </a:r>
            <a:endParaRPr lang="pt-BR" sz="1200" dirty="0"/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8297076" y="5581270"/>
            <a:ext cx="3564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 smtClean="0">
                <a:solidFill>
                  <a:schemeClr val="bg1"/>
                </a:solidFill>
              </a:rPr>
              <a:t>Desocupação total do MCTER, Almoxarifado e DIDOTE para a obra</a:t>
            </a:r>
            <a:endParaRPr lang="pt-BR" sz="1200" dirty="0">
              <a:solidFill>
                <a:schemeClr val="bg1"/>
              </a:solidFill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5893577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37, 743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709143" y="5895271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 smtClean="0">
                <a:latin typeface="Aptos Narrow" panose="020B0004020202020204" pitchFamily="34" charset="0"/>
              </a:rPr>
              <a:t>3</a:t>
            </a:r>
            <a:endParaRPr lang="pt-BR" sz="14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362</Words>
  <Application>Microsoft Office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108</cp:revision>
  <dcterms:created xsi:type="dcterms:W3CDTF">2025-07-07T09:08:08Z</dcterms:created>
  <dcterms:modified xsi:type="dcterms:W3CDTF">2026-06-30T13:53:23Z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