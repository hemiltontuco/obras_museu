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4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4332916"/>
            <a:ext cx="3704256" cy="2382231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(CRG)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2523034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315500"/>
            <a:ext cx="3691421" cy="2325685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692719" y="4451683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55562" y="4323131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824401"/>
              </p:ext>
            </p:extLst>
          </p:nvPr>
        </p:nvGraphicFramePr>
        <p:xfrm>
          <a:off x="4409653" y="2240703"/>
          <a:ext cx="7398165" cy="1950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7913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49398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83051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86585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A FJA,</a:t>
                      </a:r>
                      <a:r>
                        <a:rPr lang="pt-BR" sz="900" baseline="0" dirty="0" smtClean="0"/>
                        <a:t> </a:t>
                      </a:r>
                      <a:r>
                        <a:rPr lang="pt-BR" sz="900" dirty="0" smtClean="0"/>
                        <a:t>SGB e </a:t>
                      </a:r>
                      <a:r>
                        <a:rPr lang="pt-BR" sz="900" dirty="0" err="1" smtClean="0"/>
                        <a:t>Aldrago</a:t>
                      </a:r>
                      <a:r>
                        <a:rPr lang="pt-BR" sz="900" dirty="0" smtClean="0"/>
                        <a:t> Florestal estão atendendo às exigências constantes nos comunicados (“comunique-se”) da SMDU e de outros órgãos do Município do Rio de Janeiro (GEORIO, CET-RIO, SUBCLA/ARV), com vistas à obtenção da licença</a:t>
                      </a:r>
                      <a:r>
                        <a:rPr lang="pt-BR" sz="900" baseline="0" dirty="0" smtClean="0"/>
                        <a:t> de obras do CRG.</a:t>
                      </a:r>
                    </a:p>
                    <a:p>
                      <a:pPr algn="just"/>
                      <a:r>
                        <a:rPr lang="pt-BR" sz="900" baseline="0" dirty="0" smtClean="0"/>
                        <a:t>No dia 08/06/2026, houve a obtenção da viabilidade do empreendimento junto à DPA-DPE (Águas do Rio).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Em andamento</a:t>
                      </a:r>
                      <a:endParaRPr lang="pt-BR" sz="90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No</a:t>
                      </a:r>
                      <a:r>
                        <a:rPr lang="pt-BR" sz="900" baseline="0" dirty="0" smtClean="0"/>
                        <a:t> dia 22/06/2026, a </a:t>
                      </a:r>
                      <a:r>
                        <a:rPr lang="pt-BR" sz="900" dirty="0" smtClean="0"/>
                        <a:t> FINATEC realizou</a:t>
                      </a:r>
                      <a:r>
                        <a:rPr lang="pt-BR" sz="900" baseline="0" dirty="0" smtClean="0"/>
                        <a:t> a abertura das propostas das empresas interessadas  (10 empresas) na execução da obra. A Licitação encontra-se em </a:t>
                      </a:r>
                      <a:r>
                        <a:rPr lang="pt-BR" sz="900" baseline="0" dirty="0" smtClean="0"/>
                        <a:t>fase de interposição de  recursos pelas empresas interessadas. </a:t>
                      </a:r>
                      <a:r>
                        <a:rPr lang="pt-BR" sz="900" dirty="0" smtClean="0"/>
                        <a:t>A previsão para a conclusão do processo licitatório, incluindo a homologação da empresa vencedora, é para o</a:t>
                      </a:r>
                      <a:r>
                        <a:rPr lang="pt-BR" sz="900" baseline="0" dirty="0" smtClean="0"/>
                        <a:t> início da</a:t>
                      </a:r>
                      <a:r>
                        <a:rPr lang="pt-BR" sz="900" dirty="0" smtClean="0"/>
                        <a:t> segunda quinzena de julho de 2026.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15088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38087" y="177385"/>
            <a:ext cx="42509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200" dirty="0" smtClean="0"/>
              <a:t>A licitação da obra do CRG encontra-se em fase de </a:t>
            </a:r>
            <a:r>
              <a:rPr lang="pt-BR" sz="1200" dirty="0" smtClean="0"/>
              <a:t>interposição </a:t>
            </a:r>
            <a:r>
              <a:rPr lang="pt-BR" sz="1200" smtClean="0"/>
              <a:t>de recursos;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Homologado, pela FINATEC,  </a:t>
            </a:r>
            <a:r>
              <a:rPr lang="pt-BR" sz="1200" dirty="0"/>
              <a:t>a</a:t>
            </a:r>
            <a:r>
              <a:rPr lang="pt-BR" sz="1200" dirty="0" smtClean="0"/>
              <a:t> empresa vencedora do processo licitatório de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do CRG;</a:t>
            </a:r>
          </a:p>
          <a:p>
            <a:pPr marL="342900" indent="-342900" algn="just">
              <a:buAutoNum type="arabicParenR"/>
            </a:pP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99606" y="4879107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  <a:p>
            <a:pPr marL="342900" indent="-342900" algn="just">
              <a:buFont typeface="+mj-lt"/>
              <a:buAutoNum type="arabicParenR"/>
            </a:pP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algn="just"/>
            <a:endParaRPr lang="pt-BR" sz="1200" dirty="0" smtClean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380841" y="4277378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197503" y="4380623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40987" y="4576139"/>
            <a:ext cx="369811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Homologação da  empresa vencedora do processo licitatório para a execução da obra do CRG;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/>
              <a:t>Após a conclusão do processo licitatório da </a:t>
            </a:r>
            <a:r>
              <a:rPr lang="pt-BR" sz="1200" dirty="0" smtClean="0"/>
              <a:t>obra do CRG, </a:t>
            </a:r>
            <a:r>
              <a:rPr lang="pt-BR" sz="1200" dirty="0"/>
              <a:t>a coordenação / ponto focal encaminhará o aditivo de valor no SIGITEC</a:t>
            </a:r>
            <a:r>
              <a:rPr lang="pt-BR" sz="1200" dirty="0" smtClean="0"/>
              <a:t>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Assinatura dos contratos com as empresas de execução das obras e do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– após minuta do aditivo de valor;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 smtClean="0"/>
              <a:t>Obtenção </a:t>
            </a:r>
            <a:r>
              <a:rPr lang="pt-BR" sz="1200" dirty="0"/>
              <a:t>da licença de </a:t>
            </a:r>
            <a:r>
              <a:rPr lang="pt-BR" sz="1200" dirty="0" smtClean="0"/>
              <a:t>obras do CRG;</a:t>
            </a:r>
            <a:endParaRPr lang="pt-BR" sz="1200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343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131</cp:revision>
  <dcterms:created xsi:type="dcterms:W3CDTF">2025-07-07T09:08:08Z</dcterms:created>
  <dcterms:modified xsi:type="dcterms:W3CDTF">2026-07-01T17:56:26Z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