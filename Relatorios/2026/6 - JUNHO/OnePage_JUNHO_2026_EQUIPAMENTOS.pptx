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70"/>
  </p:normalViewPr>
  <p:slideViewPr>
    <p:cSldViewPr snapToGrid="0" showGuides="1">
      <p:cViewPr>
        <p:scale>
          <a:sx n="75" d="100"/>
          <a:sy n="75" d="100"/>
        </p:scale>
        <p:origin x="444" y="-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5.png"/><Relationship Id="rId25" Type="http://schemas.openxmlformats.org/officeDocument/2006/relationships/image" Target="../media/image8.png"/><Relationship Id="rId17" Type="http://schemas.openxmlformats.org/officeDocument/2006/relationships/image" Target="../media/image16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0.svg"/><Relationship Id="rId24" Type="http://schemas.openxmlformats.org/officeDocument/2006/relationships/image" Target="../media/image7.png"/><Relationship Id="rId23" Type="http://schemas.openxmlformats.org/officeDocument/2006/relationships/image" Target="../media/image20.svg"/><Relationship Id="rId15" Type="http://schemas.openxmlformats.org/officeDocument/2006/relationships/image" Target="../media/image14.svg"/><Relationship Id="rId5" Type="http://schemas.openxmlformats.org/officeDocument/2006/relationships/image" Target="../media/image4.svg"/><Relationship Id="rId28" Type="http://schemas.openxmlformats.org/officeDocument/2006/relationships/image" Target="../media/image11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6.png"/><Relationship Id="rId2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38706" y="5066797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392675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6228" y="5096851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R$ 25 MM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R$ 15 MM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52474" y="5141526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19863" y="514400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655912"/>
              </p:ext>
            </p:extLst>
          </p:nvPr>
        </p:nvGraphicFramePr>
        <p:xfrm>
          <a:off x="4443576" y="2152092"/>
          <a:ext cx="7418223" cy="280347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143923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95781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331821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Processo de aquisição dos IRMS Horizon e Perspective da empresa Nu pela FINATEC (nova fase de avaliação de custos</a:t>
                      </a:r>
                      <a:r>
                        <a:rPr lang="pt-BR" sz="1000" baseline="0" dirty="0"/>
                        <a:t> do frete </a:t>
                      </a:r>
                      <a:r>
                        <a:rPr lang="pt-BR" sz="1000" dirty="0"/>
                        <a:t>para envio ao jurídico)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96620"/>
                  </a:ext>
                </a:extLst>
              </a:tr>
              <a:tr h="411136">
                <a:tc>
                  <a:txBody>
                    <a:bodyPr/>
                    <a:lstStyle/>
                    <a:p>
                      <a:r>
                        <a:rPr lang="pt-BR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Processo de aquisição do </a:t>
                      </a:r>
                      <a:r>
                        <a:rPr lang="pt-BR" sz="1000" dirty="0" err="1"/>
                        <a:t>Massbox</a:t>
                      </a:r>
                      <a:r>
                        <a:rPr lang="pt-BR" sz="1000" dirty="0"/>
                        <a:t> da empresa  EXXUM pela FINATEC (nova fase de avaliação de custos</a:t>
                      </a:r>
                      <a:r>
                        <a:rPr lang="pt-BR" sz="1000" baseline="0" dirty="0"/>
                        <a:t> do frete </a:t>
                      </a:r>
                      <a:r>
                        <a:rPr lang="pt-BR" sz="1000" dirty="0"/>
                        <a:t>para envio ao jurídico)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Em</a:t>
                      </a:r>
                      <a:r>
                        <a:rPr lang="pt-BR" sz="1000" baseline="0" dirty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2331"/>
                  </a:ext>
                </a:extLst>
              </a:tr>
              <a:tr h="411136">
                <a:tc>
                  <a:txBody>
                    <a:bodyPr/>
                    <a:lstStyle/>
                    <a:p>
                      <a:r>
                        <a:rPr lang="pt-BR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Processo de aquisição do </a:t>
                      </a:r>
                      <a:r>
                        <a:rPr lang="pt-BR" sz="1000" dirty="0" err="1"/>
                        <a:t>Microscopio</a:t>
                      </a:r>
                      <a:r>
                        <a:rPr lang="pt-BR" sz="1000" dirty="0"/>
                        <a:t> com plataforma automatizada autorizado o pagamento e Microscópio com CL em</a:t>
                      </a:r>
                      <a:r>
                        <a:rPr lang="pt-BR" sz="1000" baseline="0" dirty="0"/>
                        <a:t> fase de produção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Em</a:t>
                      </a:r>
                      <a:r>
                        <a:rPr lang="pt-BR" sz="1000" baseline="0" dirty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58420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Processo de aquisição do Sistema Laser </a:t>
                      </a:r>
                      <a:r>
                        <a:rPr lang="pt-BR" sz="1000" dirty="0" err="1"/>
                        <a:t>Ablation</a:t>
                      </a:r>
                      <a:r>
                        <a:rPr lang="pt-BR" sz="1000" dirty="0"/>
                        <a:t> da empresa DPUNION/</a:t>
                      </a:r>
                      <a:r>
                        <a:rPr lang="pt-BR" sz="1000" baseline="0" dirty="0"/>
                        <a:t> APPLIED SPECTRA pela FINATEC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88805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Aquisição do NEOMA em</a:t>
                      </a:r>
                      <a:r>
                        <a:rPr lang="pt-BR" sz="1000" baseline="0" dirty="0"/>
                        <a:t> fase final para o pagamento do equipamento para a SENS/Thermo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</a:t>
                      </a:r>
                      <a:r>
                        <a:rPr lang="pt-BR" sz="1000" baseline="0" dirty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06021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Esgotamento</a:t>
                      </a:r>
                      <a:r>
                        <a:rPr lang="pt-BR" sz="1000" baseline="0" dirty="0"/>
                        <a:t> da cota destinada à compra de equipamentos pela cota de importação do CNPq. A FINATEC e o SGB buscam alternativas via lei de imunidade tributária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2948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Troca do coordenador responsável pelos equipamentos no SIGITEC;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Autorizado a compra dos equipamentos NEOMA e o Sistema Laser </a:t>
            </a:r>
            <a:r>
              <a:rPr lang="pt-BR" sz="1200" dirty="0" err="1"/>
              <a:t>Ablation</a:t>
            </a:r>
            <a:r>
              <a:rPr lang="pt-BR" sz="1200" dirty="0"/>
              <a:t>.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Processo de compra de espectrômetros Horizon e Perspective e </a:t>
            </a:r>
            <a:r>
              <a:rPr lang="pt-BR" sz="1200" dirty="0" err="1"/>
              <a:t>Massbox</a:t>
            </a:r>
            <a:r>
              <a:rPr lang="pt-BR" sz="1200" dirty="0"/>
              <a:t> e Microscópios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47285" y="5523185"/>
            <a:ext cx="3609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Cadastramento dos equipamentos do lab. de Isótopos Estáveis no Sistema </a:t>
            </a:r>
            <a:r>
              <a:rPr lang="pt-BR" sz="1200" dirty="0" err="1"/>
              <a:t>Converniar</a:t>
            </a:r>
            <a:r>
              <a:rPr lang="pt-BR" sz="1200" dirty="0"/>
              <a:t> (FINATEC);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Produção do </a:t>
            </a:r>
            <a:r>
              <a:rPr lang="pt-BR" sz="1200" dirty="0" smtClean="0"/>
              <a:t>NEOMA, Microscópio com CL e Laser </a:t>
            </a:r>
            <a:r>
              <a:rPr lang="pt-BR" sz="1200" dirty="0" err="1"/>
              <a:t>Ablation</a:t>
            </a:r>
            <a:r>
              <a:rPr lang="pt-BR" sz="1200" dirty="0"/>
              <a:t> pelas respectivas empresas responsáveis.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55834" y="5530777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Tempo de Construção do 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Processo de 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 Instalação dos Equipamentos</a:t>
            </a:r>
          </a:p>
        </p:txBody>
      </p: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4553574" y="330320"/>
            <a:ext cx="541059" cy="541059"/>
          </a:xfrm>
          <a:prstGeom prst="rect">
            <a:avLst/>
          </a:prstGeom>
        </p:spPr>
      </p:pic>
      <p:pic>
        <p:nvPicPr>
          <p:cNvPr id="74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362210" y="1762469"/>
            <a:ext cx="539750" cy="539750"/>
          </a:xfrm>
          <a:prstGeom prst="rect">
            <a:avLst/>
          </a:prstGeom>
        </p:spPr>
      </p:pic>
      <p:pic>
        <p:nvPicPr>
          <p:cNvPr id="78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pic>
        <p:nvPicPr>
          <p:cNvPr id="79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3646514" y="4880945"/>
            <a:ext cx="312263" cy="312263"/>
          </a:xfrm>
          <a:prstGeom prst="rect">
            <a:avLst/>
          </a:prstGeom>
        </p:spPr>
      </p:pic>
      <p:pic>
        <p:nvPicPr>
          <p:cNvPr id="82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 rot="10800000">
            <a:off x="4447286" y="5113331"/>
            <a:ext cx="551157" cy="551157"/>
          </a:xfrm>
          <a:prstGeom prst="rect">
            <a:avLst/>
          </a:prstGeom>
        </p:spPr>
      </p:pic>
      <p:pic>
        <p:nvPicPr>
          <p:cNvPr id="83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8239617" y="5063593"/>
            <a:ext cx="541220" cy="541220"/>
          </a:xfrm>
          <a:prstGeom prst="rect">
            <a:avLst/>
          </a:prstGeom>
        </p:spPr>
      </p:pic>
      <p:pic>
        <p:nvPicPr>
          <p:cNvPr id="8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pic>
        <p:nvPicPr>
          <p:cNvPr id="85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pic>
        <p:nvPicPr>
          <p:cNvPr id="86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323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59</cp:revision>
  <dcterms:created xsi:type="dcterms:W3CDTF">2025-07-07T09:08:08Z</dcterms:created>
  <dcterms:modified xsi:type="dcterms:W3CDTF">2026-07-01T18:52:45Z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