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79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15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099917" y="1686200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8366" y="1678769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099917" y="1923293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84366" y="167476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84366" y="191185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522367" y="1705879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46619" y="1706088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17481" y="1773185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 flipH="1">
            <a:off x="6400381" y="1735882"/>
            <a:ext cx="8317" cy="40663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576538"/>
              </p:ext>
            </p:extLst>
          </p:nvPr>
        </p:nvGraphicFramePr>
        <p:xfrm>
          <a:off x="4405787" y="2344998"/>
          <a:ext cx="7415653" cy="22250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98514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47873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66853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769872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baseline="0" dirty="0" smtClean="0"/>
                        <a:t>Realocação de postos de trabalho, no Escritório do RJ, para as futuras obras do MCTER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</a:t>
                      </a:r>
                      <a:r>
                        <a:rPr lang="pt-BR" sz="800" baseline="0" dirty="0" smtClean="0"/>
                        <a:t>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800" dirty="0" smtClean="0"/>
                        <a:t>A FJA,</a:t>
                      </a:r>
                      <a:r>
                        <a:rPr lang="pt-BR" sz="800" baseline="0" dirty="0" smtClean="0"/>
                        <a:t> </a:t>
                      </a:r>
                      <a:r>
                        <a:rPr lang="pt-BR" sz="800" dirty="0" smtClean="0"/>
                        <a:t>SGB e </a:t>
                      </a:r>
                      <a:r>
                        <a:rPr lang="pt-BR" sz="800" dirty="0" err="1" smtClean="0"/>
                        <a:t>Aldrago</a:t>
                      </a:r>
                      <a:r>
                        <a:rPr lang="pt-BR" sz="800" dirty="0" smtClean="0"/>
                        <a:t> Florestal estão atendendo às exigências constantes nos comunicados (“comunique-se”) da SMDU e de outros órgãos do Município do Rio de Janeiro (GEORIO, DPA-DPE, CET-RIO, SUBCLA e ARV), com vistas à obtenção da Licença Unificada de Obras</a:t>
                      </a:r>
                      <a:r>
                        <a:rPr lang="pt-BR" sz="800" baseline="0" dirty="0" smtClean="0"/>
                        <a:t> – Fase final de atendimento das exigências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4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3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Movimentação do acervo do MCTER,</a:t>
                      </a:r>
                      <a:r>
                        <a:rPr lang="pt-BR" sz="800" baseline="0" dirty="0" smtClean="0"/>
                        <a:t> Almoxarifado e Arquivos </a:t>
                      </a:r>
                      <a:r>
                        <a:rPr lang="pt-BR" sz="800" baseline="0" dirty="0" err="1" smtClean="0"/>
                        <a:t>Multimeiros</a:t>
                      </a:r>
                      <a:r>
                        <a:rPr lang="pt-BR" sz="800" baseline="0" dirty="0" smtClean="0"/>
                        <a:t> para a guarda externa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4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196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4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Assinado o contrato com a empresa de </a:t>
                      </a:r>
                      <a:r>
                        <a:rPr lang="pt-BR" sz="800" dirty="0" err="1" smtClean="0"/>
                        <a:t>diligenciamento</a:t>
                      </a:r>
                      <a:r>
                        <a:rPr lang="pt-BR" sz="800" baseline="0" dirty="0" smtClean="0"/>
                        <a:t> da obra</a:t>
                      </a:r>
                      <a:r>
                        <a:rPr lang="pt-BR" sz="800" dirty="0" smtClean="0"/>
                        <a:t> - </a:t>
                      </a:r>
                      <a:r>
                        <a:rPr lang="pt-BR" sz="800" baseline="0" dirty="0" smtClean="0"/>
                        <a:t>Ferraz Carvalho Soluções.</a:t>
                      </a:r>
                      <a:endParaRPr lang="pt-BR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81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Assinado o contrato com a empresa da obra - </a:t>
                      </a:r>
                      <a:r>
                        <a:rPr lang="pt-BR" sz="800" baseline="0" dirty="0" smtClean="0"/>
                        <a:t> </a:t>
                      </a:r>
                      <a:r>
                        <a:rPr lang="pt-BR" sz="800" baseline="0" dirty="0" err="1" smtClean="0"/>
                        <a:t>Construpower</a:t>
                      </a:r>
                      <a:r>
                        <a:rPr lang="pt-BR" sz="800" baseline="0" dirty="0" smtClean="0"/>
                        <a:t> Engenharia LTDA</a:t>
                      </a:r>
                      <a:endParaRPr lang="pt-BR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73369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No dia 24/03/2026 ocorreu a </a:t>
                      </a:r>
                      <a:r>
                        <a:rPr lang="pt-BR" sz="800" dirty="0" err="1" smtClean="0"/>
                        <a:t>asinatura</a:t>
                      </a:r>
                      <a:r>
                        <a:rPr lang="pt-BR" sz="800" baseline="0" dirty="0" smtClean="0"/>
                        <a:t> pelo presidente do SGB do 1° Aditivo de Valor ao Termo de Cooperação 0050.0129772.25.9 – Revitalização do MCTER</a:t>
                      </a:r>
                      <a:endParaRPr lang="pt-BR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316365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7007" y="5503063"/>
            <a:ext cx="3621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</a:t>
            </a:r>
            <a:r>
              <a:rPr lang="pt-BR" sz="1200">
                <a:solidFill>
                  <a:schemeClr val="bg1"/>
                </a:solidFill>
                <a:latin typeface="Aptos Narrow" panose="020B0004020202020204" pitchFamily="34" charset="0"/>
              </a:rPr>
              <a:t>obra</a:t>
            </a:r>
            <a:r>
              <a:rPr lang="pt-BR" sz="120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05787" y="5482399"/>
            <a:ext cx="35199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Obtenção </a:t>
            </a:r>
            <a:r>
              <a:rPr lang="pt-BR" sz="1200" dirty="0"/>
              <a:t>da licença de </a:t>
            </a:r>
            <a:r>
              <a:rPr lang="pt-BR" sz="1200" dirty="0" smtClean="0"/>
              <a:t>obras para o início imediato das obras de revitalização do MCTER;</a:t>
            </a:r>
            <a:endParaRPr lang="pt-BR" sz="1200" dirty="0"/>
          </a:p>
          <a:p>
            <a:pPr algn="just"/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99,207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432557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35,00 </a:t>
            </a:r>
            <a:r>
              <a:rPr lang="pt-BR" sz="1200" b="1" dirty="0" smtClean="0">
                <a:latin typeface="Aptos Narrow" panose="020B0004020202020204" pitchFamily="34" charset="0"/>
              </a:rPr>
              <a:t>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39337" y="363030"/>
            <a:ext cx="425094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 smtClean="0"/>
              <a:t>Assinatura do contrato com a empresa de execução da obra - </a:t>
            </a:r>
            <a:r>
              <a:rPr lang="pt-BR" sz="1200" dirty="0" err="1"/>
              <a:t>Construpower</a:t>
            </a:r>
            <a:r>
              <a:rPr lang="pt-BR" sz="1200" dirty="0"/>
              <a:t> Engenharia </a:t>
            </a:r>
            <a:r>
              <a:rPr lang="pt-BR" sz="1200" dirty="0" smtClean="0"/>
              <a:t>LTDA;</a:t>
            </a:r>
          </a:p>
          <a:p>
            <a:pPr marL="342900" indent="-342900" algn="just">
              <a:buFontTx/>
              <a:buAutoNum type="arabicParenR"/>
            </a:pPr>
            <a:r>
              <a:rPr lang="pt-BR" sz="1200" dirty="0" smtClean="0"/>
              <a:t>Assinatura </a:t>
            </a:r>
            <a:r>
              <a:rPr lang="pt-BR" sz="1200" dirty="0"/>
              <a:t>do contrato com a empresa </a:t>
            </a:r>
            <a:r>
              <a:rPr lang="pt-BR" sz="1200" dirty="0" smtClean="0"/>
              <a:t>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</a:t>
            </a:r>
            <a:r>
              <a:rPr lang="pt-BR" sz="1200" dirty="0"/>
              <a:t>da obra - Ferraz Carvalho Soluções.</a:t>
            </a:r>
          </a:p>
          <a:p>
            <a:pPr marL="342900" indent="-342900" algn="just">
              <a:buFontTx/>
              <a:buAutoNum type="arabicParenR"/>
            </a:pPr>
            <a:endParaRPr lang="pt-BR" sz="1400" dirty="0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93845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 smtClean="0">
                <a:latin typeface="Aptos Narrow" panose="020B0004020202020204" pitchFamily="34" charset="0"/>
              </a:rPr>
              <a:t>3</a:t>
            </a:r>
            <a:endParaRPr lang="pt-BR" sz="1400" i="1" dirty="0">
              <a:latin typeface="Aptos Narrow" panose="020B0004020202020204" pitchFamily="34" charset="0"/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872754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37,743 </a:t>
            </a:r>
            <a:r>
              <a:rPr lang="pt-BR" sz="1200" b="1" dirty="0" smtClean="0">
                <a:latin typeface="Aptos Narrow" panose="020B0004020202020204" pitchFamily="34" charset="0"/>
              </a:rPr>
              <a:t>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315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96</cp:revision>
  <dcterms:created xsi:type="dcterms:W3CDTF">2025-07-07T09:08:08Z</dcterms:created>
  <dcterms:modified xsi:type="dcterms:W3CDTF">2026-04-09T15:59:10Z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