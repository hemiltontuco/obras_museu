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44885" y="5013865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smtClean="0">
                <a:solidFill>
                  <a:srgbClr val="00B2A9"/>
                </a:solidFill>
                <a:latin typeface="Petrobras Sans" panose="020B0606020204030204" pitchFamily="34" charset="0"/>
              </a:rPr>
              <a:t>CRG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239801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34056" y="4939903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41506" y="162349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20610" y="1621823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4903" y="1858026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15/05/2025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9289796" y="164091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9289796" y="187800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827797" y="1672025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4183" y="1680712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758111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436242" y="162224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07104" y="168934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81230" y="1690132"/>
            <a:ext cx="0" cy="368543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68170" y="508492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890464" y="4985656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339381"/>
              </p:ext>
            </p:extLst>
          </p:nvPr>
        </p:nvGraphicFramePr>
        <p:xfrm>
          <a:off x="4384022" y="2282491"/>
          <a:ext cx="7441433" cy="22707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82518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303631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853948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94419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1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FJA,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dirty="0" smtClean="0"/>
                        <a:t>SGB e </a:t>
                      </a:r>
                      <a:r>
                        <a:rPr lang="pt-BR" sz="1050" dirty="0" err="1" smtClean="0"/>
                        <a:t>Aldrago</a:t>
                      </a:r>
                      <a:r>
                        <a:rPr lang="pt-BR" sz="1050" dirty="0" smtClean="0"/>
                        <a:t> Florestal estão atendendo às exigências constantes nos comunicados (“comunique-se”) da SMDU e de outros órgãos do Município do Rio de Janeiro (GEORIO, DPA-DPE, CET-RIO, SUBCLA e ARV), com vistas à obtenção da Licença Unificada de Obras</a:t>
                      </a:r>
                      <a:r>
                        <a:rPr lang="pt-BR" sz="1050" baseline="0" dirty="0" smtClean="0"/>
                        <a:t> – Fase final de atendimento das exigências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4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Em andamento</a:t>
                      </a:r>
                      <a:endParaRPr lang="pt-BR" sz="90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9142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4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b="1" dirty="0" smtClean="0"/>
                        <a:t>Elaboração do 3º Edital de Obras do CRG</a:t>
                      </a:r>
                      <a:r>
                        <a:rPr lang="pt-BR" sz="1050" dirty="0" smtClean="0"/>
                        <a:t>, contemplando as seguintes alterações em relação às versões anteriores: (i) modificação do critério de julgamento, passando de </a:t>
                      </a:r>
                      <a:r>
                        <a:rPr lang="pt-BR" sz="1050" b="1" dirty="0" smtClean="0"/>
                        <a:t>técnica e preço</a:t>
                      </a:r>
                      <a:r>
                        <a:rPr lang="pt-BR" sz="1050" dirty="0" smtClean="0"/>
                        <a:t> para </a:t>
                      </a:r>
                      <a:r>
                        <a:rPr lang="pt-BR" sz="1050" b="1" dirty="0" smtClean="0"/>
                        <a:t>menor preço</a:t>
                      </a:r>
                      <a:r>
                        <a:rPr lang="pt-BR" sz="1050" dirty="0" smtClean="0"/>
                        <a:t>; e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dirty="0" smtClean="0"/>
                        <a:t>(</a:t>
                      </a:r>
                      <a:r>
                        <a:rPr lang="pt-BR" sz="1050" dirty="0" err="1" smtClean="0"/>
                        <a:t>ii</a:t>
                      </a:r>
                      <a:r>
                        <a:rPr lang="pt-BR" sz="1050" dirty="0" smtClean="0"/>
                        <a:t>) substituição da plataforma </a:t>
                      </a:r>
                      <a:r>
                        <a:rPr lang="pt-BR" sz="1050" b="1" dirty="0" smtClean="0"/>
                        <a:t>BLL</a:t>
                      </a:r>
                      <a:r>
                        <a:rPr lang="pt-BR" sz="1050" dirty="0" smtClean="0"/>
                        <a:t> pela </a:t>
                      </a:r>
                      <a:r>
                        <a:rPr lang="pt-BR" sz="1050" b="1" dirty="0" err="1" smtClean="0"/>
                        <a:t>ComprasNet</a:t>
                      </a:r>
                      <a:r>
                        <a:rPr lang="pt-BR" sz="1050" dirty="0" smtClean="0"/>
                        <a:t> para condução do certame.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 smtClean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31508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3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No dia 11/03/2026, a Coordenação do projeto</a:t>
                      </a:r>
                      <a:r>
                        <a:rPr lang="pt-BR" sz="1050" baseline="0" dirty="0" smtClean="0"/>
                        <a:t> encaminhou </a:t>
                      </a:r>
                      <a:r>
                        <a:rPr lang="pt-BR" sz="1050" baseline="0" dirty="0" err="1" smtClean="0"/>
                        <a:t>emaill</a:t>
                      </a:r>
                      <a:r>
                        <a:rPr lang="pt-BR" sz="1050" baseline="0" dirty="0" smtClean="0"/>
                        <a:t> à Petrobras solicitando o aditivo de valor de R$ </a:t>
                      </a:r>
                      <a:r>
                        <a:rPr lang="pt-BR" sz="1050" baseline="0" dirty="0" smtClean="0"/>
                        <a:t>4.617.137,57 </a:t>
                      </a:r>
                      <a:r>
                        <a:rPr lang="pt-BR" sz="1050" baseline="0" dirty="0" smtClean="0"/>
                        <a:t>para a obra </a:t>
                      </a:r>
                      <a:r>
                        <a:rPr lang="pt-BR" sz="1050" baseline="0" dirty="0" smtClean="0"/>
                        <a:t>do CRG.</a:t>
                      </a:r>
                      <a:endParaRPr lang="pt-BR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-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aseline="0" dirty="0" smtClean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108352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400" dirty="0" smtClean="0"/>
              <a:t>Elaboração do novo edital de obras do CRG (3° edital)</a:t>
            </a:r>
          </a:p>
          <a:p>
            <a:pPr marL="342900" indent="-342900" algn="just">
              <a:buAutoNum type="arabicParenR"/>
            </a:pPr>
            <a:r>
              <a:rPr lang="pt-BR" sz="1400" dirty="0" smtClean="0"/>
              <a:t>Homologação, pela FINATEC,  da empresa vencedora do processo licitatório de </a:t>
            </a:r>
            <a:r>
              <a:rPr lang="pt-BR" sz="1400" dirty="0" err="1" smtClean="0"/>
              <a:t>diligenciamento</a:t>
            </a:r>
            <a:r>
              <a:rPr lang="pt-BR" sz="1400" dirty="0" smtClean="0"/>
              <a:t> das obras do CRG;</a:t>
            </a:r>
          </a:p>
          <a:p>
            <a:pPr marL="342900" indent="-342900" algn="just">
              <a:buAutoNum type="arabicParenR"/>
            </a:pP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186208" y="5491061"/>
            <a:ext cx="36216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 Demora da prefeitura do RJ para a licença de obra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Impossibilidade momentânea da Petrobras arcar com os novos custos das obras;</a:t>
            </a:r>
          </a:p>
          <a:p>
            <a:pPr algn="just"/>
            <a:endParaRPr lang="pt-BR" sz="1200" dirty="0" smtClean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15743" y="4939903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272954" y="5013865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11005" y="2181890"/>
            <a:ext cx="37857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Construção de estrutura predial para abrigar o Centro de Referência em Geociências: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de PD &amp; I na área do óleo &amp; gás voltados para </a:t>
            </a:r>
            <a:r>
              <a:rPr lang="pt-BR" sz="1600" dirty="0" err="1" smtClean="0">
                <a:latin typeface="Aptos Narrow" panose="020B0004020202020204" pitchFamily="34" charset="0"/>
              </a:rPr>
              <a:t>Isotopia</a:t>
            </a:r>
            <a:r>
              <a:rPr lang="pt-BR" sz="1600" dirty="0" smtClean="0">
                <a:latin typeface="Aptos Narrow" panose="020B0004020202020204" pitchFamily="34" charset="0"/>
              </a:rPr>
              <a:t> e Geocronologia;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projetos voltados nas linhas de pesquisa cadastradas na ANP pelo SGB</a:t>
            </a:r>
            <a:endParaRPr lang="pt-BR" sz="1600" dirty="0">
              <a:latin typeface="Aptos Narrow" panose="020B0004020202020204" pitchFamily="34" charset="0"/>
            </a:endParaRPr>
          </a:p>
          <a:p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491" y="1663481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491" y="19486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2024/00012-3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42087" y="5462365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34,929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88294" y="4881651"/>
            <a:ext cx="186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24,929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24/06/2025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61231" y="5453352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10,0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876691" y="4916560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889778" y="5406943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40987" y="5211241"/>
            <a:ext cx="3698112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sz="1200" dirty="0" smtClean="0"/>
          </a:p>
          <a:p>
            <a:pPr marL="342900" indent="-342900" algn="just">
              <a:buAutoNum type="arabicParenR"/>
            </a:pPr>
            <a:r>
              <a:rPr lang="pt-BR" sz="1100" dirty="0"/>
              <a:t>Publicação do novo edital de obras </a:t>
            </a:r>
            <a:r>
              <a:rPr lang="pt-BR" sz="1100" dirty="0" smtClean="0"/>
              <a:t>do CRG </a:t>
            </a:r>
            <a:r>
              <a:rPr lang="pt-BR" sz="1100" dirty="0"/>
              <a:t>(3° edital);</a:t>
            </a:r>
          </a:p>
          <a:p>
            <a:pPr marL="342900" indent="-342900" algn="just">
              <a:buAutoNum type="arabicParenR"/>
            </a:pPr>
            <a:r>
              <a:rPr lang="pt-BR" sz="1100" dirty="0"/>
              <a:t>Resposta da Petrobras quanto ao aditivo de valor para a obra </a:t>
            </a:r>
            <a:r>
              <a:rPr lang="pt-BR" sz="1100" dirty="0" smtClean="0"/>
              <a:t>do CRG;</a:t>
            </a:r>
            <a:endParaRPr lang="pt-BR" sz="1100" dirty="0"/>
          </a:p>
          <a:p>
            <a:pPr marL="342900" indent="-342900" algn="just">
              <a:buAutoNum type="arabicParenR"/>
            </a:pPr>
            <a:r>
              <a:rPr lang="pt-BR" sz="1100" dirty="0"/>
              <a:t>Obtenção da licença de obras;</a:t>
            </a:r>
            <a:endParaRPr lang="pt-BR" sz="1100" dirty="0"/>
          </a:p>
        </p:txBody>
      </p:sp>
      <p:pic>
        <p:nvPicPr>
          <p:cNvPr id="53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92592" y="4881391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320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106</cp:revision>
  <dcterms:created xsi:type="dcterms:W3CDTF">2025-07-07T09:08:08Z</dcterms:created>
  <dcterms:modified xsi:type="dcterms:W3CDTF">2026-03-31T13:56:34Z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