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66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8" Type="http://schemas.openxmlformats.org/officeDocument/2006/relationships/image" Target="../media/image9.png"/><Relationship Id="rId13" Type="http://schemas.openxmlformats.org/officeDocument/2006/relationships/image" Target="../media/image12.sv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2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67777" y="5025259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err="1" smtClean="0">
                <a:solidFill>
                  <a:srgbClr val="00B2A9"/>
                </a:solidFill>
                <a:latin typeface="Petrobras Sans" panose="020B0606020204030204" pitchFamily="34" charset="0"/>
              </a:rPr>
              <a:t>Litoteca</a:t>
            </a:r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 URCA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1000"/>
            <a:ext cx="7514119" cy="3302504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47679" y="5019662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9693" y="158626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482924" y="1610898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9693" y="1845321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20/05/2025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95603" y="1592352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50128" y="1844127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19/05/2027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506157" y="172891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827336" y="4880630"/>
            <a:ext cx="581735" cy="581735"/>
          </a:xfrm>
          <a:prstGeom prst="rect">
            <a:avLst/>
          </a:prstGeom>
        </p:spPr>
      </p:pic>
      <p:sp>
        <p:nvSpPr>
          <p:cNvPr id="45" name="CaixaDeTexto 44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236" y="171356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811801" y="4793778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351232" y="1631344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4922094" y="1698441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>
            <a:off x="6416452" y="1661415"/>
            <a:ext cx="0" cy="51355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805801" y="5090722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51054" y="5027754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6511958"/>
              </p:ext>
            </p:extLst>
          </p:nvPr>
        </p:nvGraphicFramePr>
        <p:xfrm>
          <a:off x="4347965" y="2294892"/>
          <a:ext cx="7497249" cy="136330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645242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4671317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920778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1259912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r>
                        <a:rPr lang="pt-BR" sz="11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1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1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1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1° Edital </a:t>
                      </a:r>
                      <a:r>
                        <a:rPr lang="pt-BR" sz="1000" dirty="0" smtClean="0"/>
                        <a:t>da</a:t>
                      </a:r>
                      <a:r>
                        <a:rPr lang="pt-BR" sz="1000" baseline="0" dirty="0" smtClean="0"/>
                        <a:t> licitação de construção da </a:t>
                      </a:r>
                      <a:r>
                        <a:rPr lang="pt-BR" sz="1000" baseline="0" dirty="0" err="1" smtClean="0"/>
                        <a:t>Litoteca</a:t>
                      </a:r>
                      <a:r>
                        <a:rPr lang="pt-BR" sz="1000" baseline="0" dirty="0" smtClean="0"/>
                        <a:t> </a:t>
                      </a:r>
                      <a:r>
                        <a:rPr lang="pt-BR" sz="1000" baseline="0" dirty="0" smtClean="0"/>
                        <a:t>publicado (19/09/2025)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00" dirty="0" smtClean="0"/>
                        <a:t>-</a:t>
                      </a:r>
                      <a:endParaRPr lang="pt-BR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00" dirty="0" smtClean="0"/>
                        <a:t>Concluído</a:t>
                      </a:r>
                      <a:endParaRPr lang="pt-BR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5605782"/>
                  </a:ext>
                </a:extLst>
              </a:tr>
              <a:tr h="171023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2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1° Edital da</a:t>
                      </a:r>
                      <a:r>
                        <a:rPr lang="pt-BR" sz="1050" baseline="0" dirty="0" smtClean="0"/>
                        <a:t> licitação do </a:t>
                      </a:r>
                      <a:r>
                        <a:rPr lang="pt-BR" sz="1050" baseline="0" dirty="0" err="1" smtClean="0"/>
                        <a:t>diligenciamento</a:t>
                      </a:r>
                      <a:r>
                        <a:rPr lang="pt-BR" sz="1050" baseline="0" dirty="0" smtClean="0"/>
                        <a:t> </a:t>
                      </a:r>
                      <a:r>
                        <a:rPr lang="pt-BR" sz="1050" baseline="0" dirty="0" smtClean="0"/>
                        <a:t>das obras da </a:t>
                      </a:r>
                      <a:r>
                        <a:rPr lang="pt-BR" sz="1050" baseline="0" dirty="0" err="1" smtClean="0"/>
                        <a:t>Litoteca</a:t>
                      </a:r>
                      <a:r>
                        <a:rPr lang="pt-BR" sz="1050" baseline="0" dirty="0" smtClean="0"/>
                        <a:t> (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-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050" dirty="0" smtClean="0"/>
                        <a:t>Concluído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7871350"/>
                  </a:ext>
                </a:extLst>
              </a:tr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3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baseline="0" dirty="0" smtClean="0"/>
                        <a:t>Solicitação pelo SGB (24/09/2025) a unificação das licenças de obras do Complexo Científico e Cultural da Urca (EISPRO2022/05481) 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050" dirty="0" smtClean="0"/>
                        <a:t>1</a:t>
                      </a:r>
                      <a:endParaRPr lang="pt-BR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050" dirty="0" smtClean="0"/>
                        <a:t>Em análise</a:t>
                      </a:r>
                      <a:r>
                        <a:rPr lang="pt-BR" sz="1050" baseline="0" dirty="0" smtClean="0"/>
                        <a:t> – Prefeitura</a:t>
                      </a:r>
                      <a:endParaRPr lang="pt-BR" sz="1050" baseline="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475424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6" y="405506"/>
            <a:ext cx="425094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r>
              <a:rPr lang="pt-BR" dirty="0"/>
              <a:t>Seleção da empresa para a obra </a:t>
            </a:r>
            <a:r>
              <a:rPr lang="pt-BR" dirty="0" smtClean="0"/>
              <a:t>da </a:t>
            </a:r>
            <a:r>
              <a:rPr lang="pt-BR" dirty="0" err="1" smtClean="0"/>
              <a:t>Litoteca</a:t>
            </a:r>
            <a:r>
              <a:rPr lang="pt-BR" dirty="0" smtClean="0"/>
              <a:t> – </a:t>
            </a:r>
            <a:r>
              <a:rPr lang="pt-BR" dirty="0"/>
              <a:t>seleção pública n° </a:t>
            </a:r>
            <a:r>
              <a:rPr lang="pt-BR" dirty="0" smtClean="0"/>
              <a:t>163/2025 </a:t>
            </a:r>
            <a:r>
              <a:rPr lang="pt-BR" dirty="0"/>
              <a:t>e seleção da empresa para o </a:t>
            </a:r>
            <a:r>
              <a:rPr lang="pt-BR" dirty="0" err="1"/>
              <a:t>diligenciamento</a:t>
            </a:r>
            <a:r>
              <a:rPr lang="pt-BR" dirty="0"/>
              <a:t> da </a:t>
            </a:r>
            <a:r>
              <a:rPr lang="pt-BR" dirty="0" err="1"/>
              <a:t>Litoteca</a:t>
            </a:r>
            <a:r>
              <a:rPr lang="pt-BR" dirty="0"/>
              <a:t> </a:t>
            </a:r>
            <a:r>
              <a:rPr lang="pt-BR" dirty="0" smtClean="0"/>
              <a:t>– </a:t>
            </a:r>
            <a:r>
              <a:rPr lang="pt-BR" dirty="0"/>
              <a:t>seleção pública n° </a:t>
            </a:r>
            <a:r>
              <a:rPr lang="pt-BR" dirty="0" smtClean="0"/>
              <a:t>149/2025</a:t>
            </a:r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09929" y="5460054"/>
            <a:ext cx="3621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Demora da prefeitura do RJ para a licença de obra;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Impossibilidade momentânea da Petrobras arcar com os novos custos das obras</a:t>
            </a:r>
            <a:endParaRPr lang="pt-BR" sz="1200" dirty="0">
              <a:solidFill>
                <a:schemeClr val="bg1"/>
              </a:solidFill>
              <a:latin typeface="Aptos Narrow" panose="020B0004020202020204" pitchFamily="34" charset="0"/>
            </a:endParaRP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66727" y="4919585"/>
            <a:ext cx="551157" cy="581270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310585" y="5019662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391345" y="5443462"/>
            <a:ext cx="3647755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/>
              <a:t>Pressionar para a obtenção da unificação da licença de obras;</a:t>
            </a:r>
          </a:p>
          <a:p>
            <a:pPr marL="342900" indent="-342900" algn="just">
              <a:buAutoNum type="arabicParenR"/>
            </a:pPr>
            <a:r>
              <a:rPr lang="pt-BR" sz="1200" dirty="0"/>
              <a:t>Escolha da empresas </a:t>
            </a:r>
            <a:r>
              <a:rPr lang="pt-BR" sz="1200" dirty="0" smtClean="0"/>
              <a:t>da obra e do </a:t>
            </a:r>
            <a:r>
              <a:rPr lang="pt-BR" sz="1200" dirty="0" err="1"/>
              <a:t>diligenciamento</a:t>
            </a:r>
            <a:r>
              <a:rPr lang="pt-BR" sz="1200" dirty="0"/>
              <a:t> do </a:t>
            </a:r>
            <a:r>
              <a:rPr lang="pt-BR" sz="1200" dirty="0" smtClean="0"/>
              <a:t>CRG</a:t>
            </a:r>
            <a:endParaRPr lang="pt-BR" sz="1200" dirty="0"/>
          </a:p>
          <a:p>
            <a:pPr marL="342900" indent="-342900" algn="just">
              <a:buAutoNum type="arabicParenR"/>
            </a:pPr>
            <a:endParaRPr lang="pt-BR" sz="1400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83740" y="2271754"/>
            <a:ext cx="382442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A edificação da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Urca da Rede SGB de PD &amp; I com Rochas e Fluídos de Bacias Petrolíferas.</a:t>
            </a:r>
            <a:endParaRPr lang="pt-BR" sz="1600" dirty="0">
              <a:latin typeface="Aptos Narrow" panose="020B0004020202020204" pitchFamily="34" charset="0"/>
            </a:endParaRPr>
          </a:p>
          <a:p>
            <a:pPr algn="just"/>
            <a:r>
              <a:rPr lang="pt-BR" sz="1600" dirty="0" smtClean="0">
                <a:latin typeface="Aptos Narrow" panose="020B0004020202020204" pitchFamily="34" charset="0"/>
              </a:rPr>
              <a:t>Construir a </a:t>
            </a:r>
            <a:r>
              <a:rPr lang="pt-BR" sz="1600" dirty="0" err="1" smtClean="0">
                <a:latin typeface="Aptos Narrow" panose="020B0004020202020204" pitchFamily="34" charset="0"/>
              </a:rPr>
              <a:t>Litoteca</a:t>
            </a:r>
            <a:r>
              <a:rPr lang="pt-BR" sz="1600" dirty="0" smtClean="0">
                <a:latin typeface="Aptos Narrow" panose="020B0004020202020204" pitchFamily="34" charset="0"/>
              </a:rPr>
              <a:t> que será destinada ao acondicionamento de amostras de testemunhos de sondagem, calha, amostras laterais, plugues, lâminas, fluídos e resíduos de análises. Instalação de laboratórios para unidade</a:t>
            </a: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0544" y="1696337"/>
            <a:ext cx="2538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latin typeface="Petrobras Sans" panose="020B0606020204030204" pitchFamily="34" charset="0"/>
              </a:rPr>
              <a:t>Plano de Trabalho</a:t>
            </a:r>
            <a:endParaRPr lang="pt-BR" b="1" dirty="0">
              <a:latin typeface="Petrobras Sans" panose="020B0606020204030204" pitchFamily="34" charset="0"/>
            </a:endParaRP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0544" y="198155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2022/00433-3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73009" y="4880630"/>
            <a:ext cx="18622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6,9 MM</a:t>
            </a:r>
          </a:p>
          <a:p>
            <a:r>
              <a:rPr lang="pt-BR" sz="1200" dirty="0" smtClean="0">
                <a:latin typeface="Aptos Narrow" panose="020B0004020202020204" pitchFamily="34" charset="0"/>
              </a:rPr>
              <a:t>31/07/2025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b="1" dirty="0" smtClean="0">
              <a:solidFill>
                <a:srgbClr val="FFFF00"/>
              </a:solidFill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45946" y="5452331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B48AC413-799B-9DE5-D70E-B29DCB0BB1A9}"/>
              </a:ext>
            </a:extLst>
          </p:cNvPr>
          <p:cNvSpPr txBox="1">
            <a:spLocks/>
          </p:cNvSpPr>
          <p:nvPr/>
        </p:nvSpPr>
        <p:spPr>
          <a:xfrm>
            <a:off x="2353496" y="5893620"/>
            <a:ext cx="18622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5,0 MM </a:t>
            </a:r>
            <a:r>
              <a:rPr lang="pt-BR" sz="1200" b="1" dirty="0" smtClean="0">
                <a:solidFill>
                  <a:srgbClr val="FFFF00"/>
                </a:solidFill>
                <a:latin typeface="Aptos Narrow" panose="020B0004020202020204" pitchFamily="34" charset="0"/>
              </a:rPr>
              <a:t> </a:t>
            </a:r>
            <a:endParaRPr lang="pt-BR" sz="1200" dirty="0">
              <a:latin typeface="Aptos Narrow" panose="020B0004020202020204" pitchFamily="34" charset="0"/>
            </a:endParaRPr>
          </a:p>
        </p:txBody>
      </p:sp>
      <p:sp>
        <p:nvSpPr>
          <p:cNvPr id="51" name="CaixaDeTexto 50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90469" y="5928963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16,92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2061406" y="491553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2074493" y="5405922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56" name="Elipse 55">
            <a:extLst>
              <a:ext uri="{FF2B5EF4-FFF2-40B4-BE49-F238E27FC236}">
                <a16:creationId xmlns:a16="http://schemas.microsoft.com/office/drawing/2014/main" id="{23C2D7D7-676A-BB79-70C3-B5559B2B78A3}"/>
              </a:ext>
            </a:extLst>
          </p:cNvPr>
          <p:cNvSpPr/>
          <p:nvPr/>
        </p:nvSpPr>
        <p:spPr>
          <a:xfrm>
            <a:off x="2076676" y="5896305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3</a:t>
            </a: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350371" y="4897957"/>
            <a:ext cx="312263" cy="312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657</TotalTime>
  <Words>238</Words>
  <Application>Microsoft Office PowerPoint</Application>
  <PresentationFormat>Widescreen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62</cp:revision>
  <dcterms:created xsi:type="dcterms:W3CDTF">2025-07-07T09:08:08Z</dcterms:created>
  <dcterms:modified xsi:type="dcterms:W3CDTF">2025-11-03T19:49:57Z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