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3" d="100"/>
          <a:sy n="73" d="100"/>
        </p:scale>
        <p:origin x="61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01/09/2025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44885" y="5013865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smtClean="0">
                <a:solidFill>
                  <a:srgbClr val="00B2A9"/>
                </a:solidFill>
                <a:latin typeface="Petrobras Sans" panose="020B0606020204030204" pitchFamily="34" charset="0"/>
              </a:rPr>
              <a:t>CRG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239801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34056" y="4939903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41506" y="162349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20610" y="1621823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4903" y="1858026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15/05/2025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9289796" y="164091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9289796" y="187800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827797" y="1672025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4183" y="1680712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758111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36242" y="162224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07104" y="168934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81230" y="1690132"/>
            <a:ext cx="0" cy="368543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68170" y="508492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890464" y="4985656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72773"/>
              </p:ext>
            </p:extLst>
          </p:nvPr>
        </p:nvGraphicFramePr>
        <p:xfrm>
          <a:off x="4347679" y="2295993"/>
          <a:ext cx="7514120" cy="245364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031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340502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799276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771200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94419"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Envio para a Petrobras </a:t>
                      </a:r>
                      <a:r>
                        <a:rPr lang="pt-BR" sz="900" dirty="0" smtClean="0"/>
                        <a:t>do</a:t>
                      </a:r>
                      <a:r>
                        <a:rPr lang="pt-BR" sz="900" baseline="0" dirty="0" smtClean="0"/>
                        <a:t>  orçamento atualizado (valores p/ </a:t>
                      </a:r>
                      <a:r>
                        <a:rPr lang="pt-BR" sz="900" baseline="0" dirty="0" err="1" smtClean="0"/>
                        <a:t>agost</a:t>
                      </a:r>
                      <a:r>
                        <a:rPr lang="pt-BR" sz="900" baseline="0" dirty="0" smtClean="0"/>
                        <a:t>/25) e solicitação do 1° aditivo de </a:t>
                      </a:r>
                      <a:r>
                        <a:rPr lang="pt-BR" sz="900" baseline="0" smtClean="0"/>
                        <a:t>valor </a:t>
                      </a:r>
                      <a:r>
                        <a:rPr lang="pt-BR" sz="900" baseline="0" smtClean="0"/>
                        <a:t>voltado a construção </a:t>
                      </a:r>
                      <a:r>
                        <a:rPr lang="pt-BR" sz="900" baseline="0" dirty="0" smtClean="0"/>
                        <a:t>do </a:t>
                      </a:r>
                      <a:r>
                        <a:rPr lang="pt-BR" sz="900" baseline="0" dirty="0" smtClean="0"/>
                        <a:t>CRG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 smtClean="0"/>
                        <a:t>-</a:t>
                      </a:r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Concluído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306970"/>
                  </a:ext>
                </a:extLst>
              </a:tr>
              <a:tr h="181596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Habilitação</a:t>
                      </a:r>
                      <a:r>
                        <a:rPr lang="pt-BR" sz="900" baseline="0" dirty="0" smtClean="0"/>
                        <a:t> e aprovação do 1° aditivo de valor pela Petrobras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-</a:t>
                      </a:r>
                    </a:p>
                    <a:p>
                      <a:pPr algn="ctr"/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Concluído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164140"/>
                  </a:ext>
                </a:extLst>
              </a:tr>
              <a:tr h="17925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3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Finalização</a:t>
                      </a:r>
                      <a:r>
                        <a:rPr lang="pt-BR" sz="900" baseline="0" dirty="0" smtClean="0"/>
                        <a:t> do edital e do termo de referência para a construção do CRG pela FINATEC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-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Concluído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978030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4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Atendimento de pendências</a:t>
                      </a:r>
                      <a:r>
                        <a:rPr lang="pt-BR" sz="900" baseline="0" dirty="0" smtClean="0"/>
                        <a:t> para a obtenção de l</a:t>
                      </a:r>
                      <a:r>
                        <a:rPr lang="pt-BR" sz="900" dirty="0" smtClean="0"/>
                        <a:t>icença de obras junto</a:t>
                      </a:r>
                      <a:r>
                        <a:rPr lang="pt-BR" sz="900" baseline="0" dirty="0" smtClean="0"/>
                        <a:t> à</a:t>
                      </a:r>
                      <a:r>
                        <a:rPr lang="pt-BR" sz="900" dirty="0" smtClean="0"/>
                        <a:t> SMDU/ Pref.</a:t>
                      </a:r>
                      <a:r>
                        <a:rPr lang="pt-BR" sz="900" baseline="0" dirty="0" smtClean="0"/>
                        <a:t> RJ</a:t>
                      </a:r>
                      <a:r>
                        <a:rPr lang="pt-BR" sz="900" dirty="0" smtClean="0"/>
                        <a:t> – CRG (EISPRO2022/00929)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91428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5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Atendimento de pendências</a:t>
                      </a:r>
                      <a:r>
                        <a:rPr lang="pt-BR" sz="900" baseline="0" dirty="0" smtClean="0"/>
                        <a:t> para a obtenção de l</a:t>
                      </a:r>
                      <a:r>
                        <a:rPr lang="pt-BR" sz="900" dirty="0" smtClean="0"/>
                        <a:t>icença de demolição junto</a:t>
                      </a:r>
                      <a:r>
                        <a:rPr lang="pt-BR" sz="900" baseline="0" dirty="0" smtClean="0"/>
                        <a:t> a</a:t>
                      </a:r>
                      <a:r>
                        <a:rPr lang="pt-BR" sz="900" dirty="0" smtClean="0"/>
                        <a:t> SMDU/ Pref.</a:t>
                      </a:r>
                      <a:r>
                        <a:rPr lang="pt-BR" sz="900" baseline="0" dirty="0" smtClean="0"/>
                        <a:t> RJ(EISPRO2022/01045)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4110983"/>
                  </a:ext>
                </a:extLst>
              </a:tr>
              <a:tr h="271771"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6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 smtClean="0"/>
                        <a:t>Lançamento</a:t>
                      </a:r>
                      <a:r>
                        <a:rPr lang="pt-BR" sz="900" baseline="0" dirty="0" smtClean="0"/>
                        <a:t> do p</a:t>
                      </a:r>
                      <a:r>
                        <a:rPr lang="pt-BR" sz="900" dirty="0" smtClean="0"/>
                        <a:t>rocesso licitatório</a:t>
                      </a:r>
                      <a:r>
                        <a:rPr lang="pt-BR" sz="900" baseline="0" dirty="0" smtClean="0"/>
                        <a:t> pela FINATEC para o </a:t>
                      </a:r>
                      <a:r>
                        <a:rPr lang="pt-BR" sz="900" baseline="0" dirty="0" err="1" smtClean="0"/>
                        <a:t>diligenciamento</a:t>
                      </a:r>
                      <a:r>
                        <a:rPr lang="pt-BR" sz="900" baseline="0" dirty="0" smtClean="0"/>
                        <a:t> da obra do CRG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900" dirty="0" smtClean="0"/>
                        <a:t>1/2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900" dirty="0" smtClean="0"/>
                        <a:t>Em</a:t>
                      </a:r>
                      <a:r>
                        <a:rPr lang="pt-BR" sz="900" baseline="0" dirty="0" smtClean="0"/>
                        <a:t> andamento</a:t>
                      </a:r>
                      <a:endParaRPr lang="pt-BR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996322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 smtClean="0"/>
              <a:t>Aguardo da minuta  do 1° aditivo de valor para ser iniciado o processo licitatório de construção do Centro de Referência em Geociências (CRG)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186208" y="5491061"/>
            <a:ext cx="3621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as licenças de obra e demolição;</a:t>
            </a:r>
          </a:p>
          <a:p>
            <a:pPr marL="342900" indent="-342900" algn="just">
              <a:buAutoNum type="arabicParenR"/>
            </a:pP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Demora da FINATEC para as licitações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15743" y="4939903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72954" y="5013865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11005" y="2181890"/>
            <a:ext cx="37857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Construção de estrutura predial para abrigar o Centro de Referência em Geociências: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de PD &amp; I na área do óleo &amp; gás voltados para </a:t>
            </a:r>
            <a:r>
              <a:rPr lang="pt-BR" sz="1600" dirty="0" err="1" smtClean="0">
                <a:latin typeface="Aptos Narrow" panose="020B0004020202020204" pitchFamily="34" charset="0"/>
              </a:rPr>
              <a:t>Isotopia</a:t>
            </a:r>
            <a:r>
              <a:rPr lang="pt-BR" sz="1600" dirty="0" smtClean="0">
                <a:latin typeface="Aptos Narrow" panose="020B0004020202020204" pitchFamily="34" charset="0"/>
              </a:rPr>
              <a:t> e Geocronologia;</a:t>
            </a:r>
          </a:p>
          <a:p>
            <a:pPr marL="342900" indent="-342900">
              <a:buAutoNum type="arabicParenR"/>
            </a:pPr>
            <a:r>
              <a:rPr lang="pt-BR" sz="1600" dirty="0" smtClean="0">
                <a:latin typeface="Aptos Narrow" panose="020B0004020202020204" pitchFamily="34" charset="0"/>
              </a:rPr>
              <a:t>Desenvolver projetos voltados nas linhas de pesquisa cadastradas na ANP pelo SGB</a:t>
            </a:r>
            <a:endParaRPr lang="pt-BR" sz="1600" dirty="0">
              <a:latin typeface="Aptos Narrow" panose="020B0004020202020204" pitchFamily="34" charset="0"/>
            </a:endParaRPr>
          </a:p>
          <a:p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491" y="1663481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491" y="19486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2024/00012-3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42087" y="5462365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34,929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1" name="CaixaDeTexto 70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88294" y="4881651"/>
            <a:ext cx="18622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24,929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24/06/2025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161231" y="5453352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10,0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876691" y="4916560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9" name="Elipse 78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889778" y="5406943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34056" y="5208200"/>
            <a:ext cx="369811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sz="1200" dirty="0" smtClean="0"/>
          </a:p>
          <a:p>
            <a:pPr marL="342900" indent="-342900" algn="just">
              <a:buAutoNum type="arabicParenR"/>
            </a:pPr>
            <a:r>
              <a:rPr lang="pt-BR" sz="1200" dirty="0" smtClean="0"/>
              <a:t>Cobrar da FINATEC o edital do  </a:t>
            </a:r>
            <a:r>
              <a:rPr lang="pt-BR" sz="1200" dirty="0" err="1" smtClean="0"/>
              <a:t>diligenciamento</a:t>
            </a:r>
            <a:r>
              <a:rPr lang="pt-BR" sz="1200" dirty="0"/>
              <a:t> </a:t>
            </a:r>
            <a:r>
              <a:rPr lang="pt-BR" sz="1200" dirty="0" smtClean="0"/>
              <a:t>da obra;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Assinatura da minuta do 1° Aditivo de valor para o TC;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Abertura dos editais de construção e </a:t>
            </a:r>
            <a:r>
              <a:rPr lang="pt-BR" sz="1200" dirty="0" err="1" smtClean="0"/>
              <a:t>diligenciamento</a:t>
            </a:r>
            <a:r>
              <a:rPr lang="pt-BR" sz="1200" dirty="0" smtClean="0"/>
              <a:t> do CRG</a:t>
            </a:r>
            <a:endParaRPr lang="pt-BR" sz="1200" dirty="0"/>
          </a:p>
          <a:p>
            <a:pPr marL="342900" indent="-342900" algn="just">
              <a:buAutoNum type="arabicParenR"/>
            </a:pPr>
            <a:endParaRPr lang="pt-BR" dirty="0"/>
          </a:p>
        </p:txBody>
      </p:sp>
      <p:pic>
        <p:nvPicPr>
          <p:cNvPr id="53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492592" y="4881391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289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54</cp:revision>
  <dcterms:created xsi:type="dcterms:W3CDTF">2025-07-07T09:08:08Z</dcterms:created>
  <dcterms:modified xsi:type="dcterms:W3CDTF">2025-09-01T12:35:53Z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