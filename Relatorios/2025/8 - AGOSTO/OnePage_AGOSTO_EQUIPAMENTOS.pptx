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81" y="490114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096053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80" y="4901149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61789" y="4980189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latin typeface="Aptos Narrow" panose="020B0004020202020204" pitchFamily="34" charset="0"/>
              </a:rPr>
              <a:t>R$ 16,4 MM</a:t>
            </a:r>
          </a:p>
          <a:p>
            <a:r>
              <a:rPr lang="pt-BR" sz="1400" dirty="0" smtClean="0">
                <a:latin typeface="Aptos Narrow" panose="020B0004020202020204" pitchFamily="34" charset="0"/>
              </a:rPr>
              <a:t>24/06/2025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46231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R$ 30 </a:t>
            </a:r>
            <a:r>
              <a:rPr lang="pt-BR" sz="1400" b="1" dirty="0" smtClean="0">
                <a:latin typeface="Aptos Narrow" panose="020B0004020202020204" pitchFamily="34" charset="0"/>
              </a:rPr>
              <a:t>MM</a:t>
            </a:r>
            <a:endParaRPr lang="pt-BR" sz="1400" b="1" dirty="0">
              <a:latin typeface="Aptos Narrow" panose="020B00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R$ 10 </a:t>
            </a:r>
            <a:r>
              <a:rPr lang="pt-BR" sz="1400" b="1" dirty="0" smtClean="0">
                <a:latin typeface="Aptos Narrow" panose="020B0004020202020204" pitchFamily="34" charset="0"/>
              </a:rPr>
              <a:t>MM</a:t>
            </a:r>
            <a:endParaRPr lang="pt-BR" sz="1400" b="1" dirty="0">
              <a:latin typeface="Aptos Narrow" panose="020B0004020202020204" pitchFamily="34" charset="0"/>
            </a:endParaRPr>
          </a:p>
        </p:txBody>
      </p: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71449" y="4975878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8854" y="4999425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671505"/>
              </p:ext>
            </p:extLst>
          </p:nvPr>
        </p:nvGraphicFramePr>
        <p:xfrm>
          <a:off x="4469408" y="2177489"/>
          <a:ext cx="7418223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486396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38224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42369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Reuniões com empresas </a:t>
                      </a:r>
                      <a:r>
                        <a:rPr lang="pt-BR" sz="1000" baseline="0" dirty="0" smtClean="0"/>
                        <a:t>(</a:t>
                      </a:r>
                      <a:r>
                        <a:rPr lang="pt-BR" sz="1000" baseline="0" dirty="0" err="1" smtClean="0"/>
                        <a:t>Thermo</a:t>
                      </a:r>
                      <a:r>
                        <a:rPr lang="pt-BR" sz="1000" baseline="0" dirty="0" smtClean="0"/>
                        <a:t> Fischer, JEOL </a:t>
                      </a:r>
                      <a:r>
                        <a:rPr lang="pt-BR" sz="1000" baseline="0" dirty="0" err="1" smtClean="0"/>
                        <a:t>Brazil</a:t>
                      </a:r>
                      <a:r>
                        <a:rPr lang="pt-BR" sz="1000" baseline="0" dirty="0" smtClean="0"/>
                        <a:t>, EXUM </a:t>
                      </a:r>
                      <a:r>
                        <a:rPr lang="pt-BR" sz="1000" baseline="0" dirty="0" err="1" smtClean="0"/>
                        <a:t>Instruments</a:t>
                      </a:r>
                      <a:r>
                        <a:rPr lang="pt-BR" sz="1000" baseline="0" dirty="0" smtClean="0"/>
                        <a:t> e </a:t>
                      </a:r>
                      <a:r>
                        <a:rPr lang="pt-BR" sz="1000" baseline="0" dirty="0" err="1" smtClean="0"/>
                        <a:t>Applied</a:t>
                      </a:r>
                      <a:r>
                        <a:rPr lang="pt-BR" sz="1000" baseline="0" dirty="0" smtClean="0"/>
                        <a:t> </a:t>
                      </a:r>
                      <a:r>
                        <a:rPr lang="pt-BR" sz="1000" baseline="0" dirty="0" err="1" smtClean="0"/>
                        <a:t>Spectra</a:t>
                      </a:r>
                      <a:r>
                        <a:rPr lang="pt-BR" sz="1000" baseline="0" dirty="0" smtClean="0"/>
                        <a:t>) visando definir a listagem final de equipamentos para a conclusão dos laboratórios do CRG</a:t>
                      </a:r>
                      <a:r>
                        <a:rPr lang="pt-BR" sz="1000" dirty="0" smtClean="0"/>
                        <a:t>,</a:t>
                      </a:r>
                      <a:r>
                        <a:rPr lang="pt-BR" sz="1000" baseline="0" dirty="0" smtClean="0"/>
                        <a:t> além do lab.  </a:t>
                      </a:r>
                      <a:r>
                        <a:rPr lang="pt-BR" sz="1000" baseline="0" dirty="0" err="1" smtClean="0"/>
                        <a:t>Radiogênicos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6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 Execução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 smtClean="0"/>
                        <a:t>Listagem </a:t>
                      </a:r>
                      <a:r>
                        <a:rPr lang="pt-BR" sz="1000" baseline="0" dirty="0" smtClean="0"/>
                        <a:t>e orçamento  para a compra dos equipamentos (CRG) no curto prazo do Laboratório de Isótopos </a:t>
                      </a:r>
                      <a:r>
                        <a:rPr lang="pt-BR" sz="1000" baseline="0" dirty="0" err="1" smtClean="0"/>
                        <a:t>Radiogênicos</a:t>
                      </a:r>
                      <a:r>
                        <a:rPr lang="pt-BR" sz="1000" baseline="0" dirty="0" smtClean="0"/>
                        <a:t>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Concluído</a:t>
                      </a:r>
                      <a:endParaRPr lang="pt-BR" sz="1000" dirty="0" smtClean="0"/>
                    </a:p>
                    <a:p>
                      <a:pPr algn="ctr"/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 smtClean="0"/>
                        <a:t>Elaboração do Termo de Referência</a:t>
                      </a:r>
                      <a:r>
                        <a:rPr lang="pt-BR" sz="1000" baseline="0" dirty="0" smtClean="0"/>
                        <a:t> para o p</a:t>
                      </a:r>
                      <a:r>
                        <a:rPr lang="pt-BR" sz="1000" dirty="0" smtClean="0"/>
                        <a:t>rocesso licitatório de aquisição imediata de equipamentos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</a:t>
                      </a:r>
                      <a:r>
                        <a:rPr lang="pt-BR" sz="1000" baseline="0" dirty="0" smtClean="0"/>
                        <a:t> Execução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913120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>
                          <a:solidFill>
                            <a:schemeClr val="tx1"/>
                          </a:solidFill>
                        </a:rPr>
                        <a:t>Visitação</a:t>
                      </a:r>
                      <a:r>
                        <a:rPr lang="pt-BR" sz="1000" baseline="0" dirty="0" smtClean="0">
                          <a:solidFill>
                            <a:schemeClr val="tx1"/>
                          </a:solidFill>
                        </a:rPr>
                        <a:t> em</a:t>
                      </a:r>
                      <a:r>
                        <a:rPr lang="pt-BR" sz="1000" dirty="0" smtClean="0">
                          <a:solidFill>
                            <a:schemeClr val="tx1"/>
                          </a:solidFill>
                        </a:rPr>
                        <a:t> laboratórios </a:t>
                      </a:r>
                      <a:r>
                        <a:rPr lang="pt-BR" sz="1000" dirty="0" smtClean="0">
                          <a:solidFill>
                            <a:schemeClr val="tx1"/>
                          </a:solidFill>
                        </a:rPr>
                        <a:t>nacionais</a:t>
                      </a:r>
                      <a:r>
                        <a:rPr lang="pt-BR" sz="1000" baseline="0" dirty="0" smtClean="0">
                          <a:solidFill>
                            <a:schemeClr val="tx1"/>
                          </a:solidFill>
                        </a:rPr>
                        <a:t> e internacionais visando a finalização conceitual dos </a:t>
                      </a:r>
                      <a:r>
                        <a:rPr lang="pt-BR" sz="1000" baseline="0" dirty="0" err="1" smtClean="0">
                          <a:solidFill>
                            <a:schemeClr val="tx1"/>
                          </a:solidFill>
                        </a:rPr>
                        <a:t>labs</a:t>
                      </a:r>
                      <a:r>
                        <a:rPr lang="pt-BR" sz="1000" baseline="0" dirty="0" smtClean="0">
                          <a:solidFill>
                            <a:schemeClr val="tx1"/>
                          </a:solidFill>
                        </a:rPr>
                        <a:t> do CRG – Pesquisador </a:t>
                      </a:r>
                      <a:r>
                        <a:rPr lang="pt-BR" sz="1000" baseline="0" dirty="0" err="1" smtClean="0">
                          <a:solidFill>
                            <a:schemeClr val="tx1"/>
                          </a:solidFill>
                        </a:rPr>
                        <a:t>Crisógono</a:t>
                      </a:r>
                      <a:r>
                        <a:rPr lang="pt-BR" sz="1000" baseline="0" dirty="0" smtClean="0">
                          <a:solidFill>
                            <a:schemeClr val="tx1"/>
                          </a:solidFill>
                        </a:rPr>
                        <a:t> Vasconcelos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</a:t>
                      </a:r>
                      <a:r>
                        <a:rPr lang="pt-BR" sz="1000" baseline="0" dirty="0" smtClean="0"/>
                        <a:t> Execução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33026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 smtClean="0"/>
              <a:t>Execução do Termo de Referência para aquisição dos equipamentos e busca continua por novas tecnologias para implementação no CRG. </a:t>
            </a:r>
            <a:endParaRPr lang="pt-BR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29449" y="5450552"/>
            <a:ext cx="3609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sz="1400" dirty="0" smtClean="0"/>
              <a:t>1) Aguardo da liberação de </a:t>
            </a:r>
            <a:r>
              <a:rPr lang="pt-BR" sz="1400" dirty="0" smtClean="0"/>
              <a:t>novas cotas </a:t>
            </a:r>
            <a:r>
              <a:rPr lang="pt-BR" sz="1400" dirty="0" smtClean="0"/>
              <a:t>do CNPQ para a importação de </a:t>
            </a:r>
            <a:r>
              <a:rPr lang="pt-BR" sz="1400" dirty="0" smtClean="0"/>
              <a:t>equipamentos com a isenção de impostos.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74809" y="5365129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Tempo </a:t>
            </a: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de Construção do </a:t>
            </a: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Processo </a:t>
            </a: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de </a:t>
            </a: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 Instalação </a:t>
            </a: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dos Equipamentos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48738" y="4917629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76233" y="4904818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646514" y="4880945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253</Words>
  <Application>Microsoft Office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21</cp:revision>
  <dcterms:created xsi:type="dcterms:W3CDTF">2025-07-07T09:08:08Z</dcterms:created>
  <dcterms:modified xsi:type="dcterms:W3CDTF">2025-09-01T12:34:36Z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