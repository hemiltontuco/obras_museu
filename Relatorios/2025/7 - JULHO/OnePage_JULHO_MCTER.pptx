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61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2.svg"/><Relationship Id="rId18" Type="http://schemas.openxmlformats.org/officeDocument/2006/relationships/image" Target="../media/image10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86863" y="5076696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 smtClean="0">
                <a:solidFill>
                  <a:srgbClr val="00B2A9"/>
                </a:solidFill>
                <a:latin typeface="Petrobras Sans" panose="020B0606020204030204" pitchFamily="34" charset="0"/>
              </a:rPr>
              <a:t>Museu de Ciências da Terra (MCTER)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0999"/>
            <a:ext cx="7514119" cy="3341356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64855" y="5076696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17252" y="1621206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541994" y="1651277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17252" y="1858299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chemeClr val="bg2">
                    <a:lumMod val="10000"/>
                  </a:schemeClr>
                </a:solidFill>
                <a:latin typeface="Aptos Narrow" panose="020B0004020202020204" pitchFamily="34" charset="0"/>
              </a:rPr>
              <a:t>20/05/2025</a:t>
            </a:r>
            <a:endParaRPr lang="pt-BR" sz="1400" dirty="0">
              <a:solidFill>
                <a:schemeClr val="bg2">
                  <a:lumMod val="10000"/>
                </a:schemeClr>
              </a:solidFill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8965715" y="1586849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8965715" y="1823942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chemeClr val="bg2">
                    <a:lumMod val="10000"/>
                  </a:schemeClr>
                </a:solidFill>
                <a:latin typeface="Aptos Narrow" panose="020B0004020202020204" pitchFamily="34" charset="0"/>
              </a:rPr>
              <a:t>19/05/2027</a:t>
            </a:r>
            <a:endParaRPr lang="pt-BR" sz="1400" dirty="0">
              <a:solidFill>
                <a:schemeClr val="bg2">
                  <a:lumMod val="10000"/>
                </a:schemeClr>
              </a:solidFill>
              <a:latin typeface="Aptos Narrow" panose="020B0004020202020204" pitchFamily="34" charset="0"/>
            </a:endParaRP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rot="10800000">
            <a:off x="8503716" y="1617962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54968" y="4881651"/>
            <a:ext cx="581735" cy="581735"/>
          </a:xfrm>
          <a:prstGeom prst="rect">
            <a:avLst/>
          </a:prstGeom>
        </p:spPr>
      </p:pic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433917" y="1762288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600169" y="4821015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058931" y="4865250"/>
            <a:ext cx="1819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26,464 MM </a:t>
            </a:r>
            <a:endParaRPr lang="pt-BR" sz="1200" dirty="0" smtClean="0">
              <a:latin typeface="Aptos Narrow" panose="020B0004020202020204" pitchFamily="34" charset="0"/>
            </a:endParaRPr>
          </a:p>
          <a:p>
            <a:r>
              <a:rPr lang="pt-BR" sz="1200" i="1" dirty="0" smtClean="0">
                <a:latin typeface="Aptos Narrow" panose="020B0004020202020204" pitchFamily="34" charset="0"/>
              </a:rPr>
              <a:t>10/07/25</a:t>
            </a:r>
            <a:endParaRPr lang="pt-BR" sz="1200" i="1" dirty="0">
              <a:latin typeface="Aptos Narrow" panose="020B0004020202020204" pitchFamily="34" charset="0"/>
            </a:endParaRPr>
          </a:p>
        </p:txBody>
      </p:sp>
      <p:pic>
        <p:nvPicPr>
          <p:cNvPr id="62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3601976" y="4866681"/>
            <a:ext cx="312263" cy="312263"/>
          </a:xfrm>
          <a:prstGeom prst="rect">
            <a:avLst/>
          </a:prstGeom>
        </p:spPr>
      </p:pic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4455569" y="1621206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5026431" y="1688303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08987" y="1651000"/>
            <a:ext cx="0" cy="620761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788624" y="5139255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927796" y="5113067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036656"/>
              </p:ext>
            </p:extLst>
          </p:nvPr>
        </p:nvGraphicFramePr>
        <p:xfrm>
          <a:off x="4359687" y="2141474"/>
          <a:ext cx="7473762" cy="28803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43221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000448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1015446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Duração </a:t>
                      </a:r>
                      <a:r>
                        <a:rPr lang="pt-BR" sz="800" dirty="0"/>
                        <a:t>(meses)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176391"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Envio</a:t>
                      </a:r>
                      <a:r>
                        <a:rPr lang="pt-BR" sz="800" baseline="0" dirty="0" smtClean="0"/>
                        <a:t> para a FINATEC do termo de referência visando o processo licitatório para obras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-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Concluído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691428"/>
                  </a:ext>
                </a:extLst>
              </a:tr>
              <a:tr h="231810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2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Envio para</a:t>
                      </a:r>
                      <a:r>
                        <a:rPr lang="pt-BR" sz="800" baseline="0" dirty="0" smtClean="0"/>
                        <a:t> a FINATEC do termo de referência visando o processo licitatório para empresa diligenciadora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-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 smtClean="0"/>
                        <a:t>Concluído</a:t>
                      </a:r>
                    </a:p>
                    <a:p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973171"/>
                  </a:ext>
                </a:extLst>
              </a:tr>
              <a:tr h="284457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3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baseline="0" dirty="0" smtClean="0"/>
                        <a:t>Estudo da realocação de pessoal do escritório SGB no RJ do bloco A1 (Estudo de RETROFIT), visando viabilizar o início das obras 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-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Concluído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03089"/>
                  </a:ext>
                </a:extLst>
              </a:tr>
              <a:tr h="314937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4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Entrada com</a:t>
                      </a:r>
                      <a:r>
                        <a:rPr lang="pt-BR" sz="800" baseline="0" dirty="0" smtClean="0"/>
                        <a:t> s</a:t>
                      </a:r>
                      <a:r>
                        <a:rPr lang="pt-BR" sz="800" dirty="0" smtClean="0"/>
                        <a:t>olicitação</a:t>
                      </a:r>
                      <a:r>
                        <a:rPr lang="pt-BR" sz="800" baseline="0" dirty="0" smtClean="0"/>
                        <a:t>  de licença na prefeitura do RJ visando o início das obras </a:t>
                      </a:r>
                    </a:p>
                    <a:p>
                      <a:r>
                        <a:rPr lang="pt-BR" sz="800" baseline="0" dirty="0" smtClean="0"/>
                        <a:t>(Protocolo EISPRO2022/05481)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-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Concluído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247722"/>
                  </a:ext>
                </a:extLst>
              </a:tr>
              <a:tr h="187475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5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 smtClean="0"/>
                        <a:t>Lançamento</a:t>
                      </a:r>
                      <a:r>
                        <a:rPr lang="pt-BR" sz="800" baseline="0" dirty="0" smtClean="0"/>
                        <a:t> do p</a:t>
                      </a:r>
                      <a:r>
                        <a:rPr lang="pt-BR" sz="800" dirty="0" smtClean="0"/>
                        <a:t>rocesso licitatório pela</a:t>
                      </a:r>
                      <a:r>
                        <a:rPr lang="pt-BR" sz="800" baseline="0" dirty="0" smtClean="0"/>
                        <a:t> FINATEC para obras do MCTER </a:t>
                      </a:r>
                      <a:endParaRPr lang="pt-BR" sz="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1/2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Em andamento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458095"/>
                  </a:ext>
                </a:extLst>
              </a:tr>
              <a:tr h="181933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6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 smtClean="0"/>
                        <a:t>Lançamento</a:t>
                      </a:r>
                      <a:r>
                        <a:rPr lang="pt-BR" sz="800" baseline="0" dirty="0" smtClean="0"/>
                        <a:t> do p</a:t>
                      </a:r>
                      <a:r>
                        <a:rPr lang="pt-BR" sz="800" dirty="0" smtClean="0"/>
                        <a:t>rocesso licitatório</a:t>
                      </a:r>
                      <a:r>
                        <a:rPr lang="pt-BR" sz="800" baseline="0" dirty="0" smtClean="0"/>
                        <a:t> pela FINATEC para o </a:t>
                      </a:r>
                      <a:r>
                        <a:rPr lang="pt-BR" sz="800" baseline="0" dirty="0" err="1" smtClean="0"/>
                        <a:t>diligenciamento</a:t>
                      </a:r>
                      <a:r>
                        <a:rPr lang="pt-BR" sz="800" baseline="0" dirty="0" smtClean="0"/>
                        <a:t> da obra do MCTER 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1/2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Em</a:t>
                      </a:r>
                      <a:r>
                        <a:rPr lang="pt-BR" sz="800" baseline="0" dirty="0" smtClean="0"/>
                        <a:t> andamento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841621"/>
                  </a:ext>
                </a:extLst>
              </a:tr>
              <a:tr h="284457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7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Definição</a:t>
                      </a:r>
                      <a:r>
                        <a:rPr lang="pt-BR" sz="800" baseline="0" dirty="0" smtClean="0"/>
                        <a:t> final dos equipamentos do CGA com utilização em parceria com o MCTER   – Pesquisador </a:t>
                      </a:r>
                      <a:r>
                        <a:rPr lang="pt-BR" sz="800" baseline="0" dirty="0" err="1" smtClean="0"/>
                        <a:t>Crisógono</a:t>
                      </a:r>
                      <a:r>
                        <a:rPr lang="pt-BR" sz="800" baseline="0" dirty="0" smtClean="0"/>
                        <a:t> Vasconcelos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5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Em andamento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999317"/>
                  </a:ext>
                </a:extLst>
              </a:tr>
              <a:tr h="181933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8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Definição</a:t>
                      </a:r>
                      <a:r>
                        <a:rPr lang="pt-BR" sz="800" baseline="0" dirty="0" smtClean="0"/>
                        <a:t> das principais linhas de pesquisas do MCTER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5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Em andamento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409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9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 smtClean="0"/>
                        <a:t>Espera-se</a:t>
                      </a:r>
                      <a:r>
                        <a:rPr lang="pt-BR" sz="800" baseline="0" dirty="0" smtClean="0"/>
                        <a:t> manifestação da Petrobras em relação ao </a:t>
                      </a:r>
                      <a:r>
                        <a:rPr lang="pt-BR" sz="800" baseline="0" dirty="0" err="1" smtClean="0"/>
                        <a:t>email</a:t>
                      </a:r>
                      <a:r>
                        <a:rPr lang="pt-BR" sz="800" baseline="0" dirty="0" smtClean="0"/>
                        <a:t> (30/07/2025) encaminhado para  o Gerente de Contrato e Interlocutor Técnico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-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 smtClean="0"/>
                        <a:t>Concluído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763848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3" y="415756"/>
            <a:ext cx="4250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r>
              <a:rPr lang="pt-BR" dirty="0" smtClean="0"/>
              <a:t>Início da elaboração do processo licitatório para a obra do MCTER</a:t>
            </a:r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217007" y="5503063"/>
            <a:ext cx="36216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Demora da prefeitura do RJ para as licenças de </a:t>
            </a: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obra;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Necessidade </a:t>
            </a: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de manifestação da Petrobras para aditivo de prazo e reajuste das planilhas </a:t>
            </a: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orçamentárias;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Demora </a:t>
            </a: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da FINATEC para as licitações</a:t>
            </a: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 rot="10800000">
            <a:off x="4442679" y="5022420"/>
            <a:ext cx="551157" cy="551157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8297076" y="5066941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495442" y="5508587"/>
            <a:ext cx="343024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200" dirty="0" smtClean="0"/>
              <a:t>Obtenção da licença;</a:t>
            </a:r>
          </a:p>
          <a:p>
            <a:pPr marL="342900" indent="-342900" algn="just">
              <a:buAutoNum type="arabicParenR"/>
            </a:pPr>
            <a:r>
              <a:rPr lang="pt-BR" sz="1200" dirty="0" smtClean="0"/>
              <a:t>Realocação do pessoal do SGB para salas temporárias;</a:t>
            </a:r>
          </a:p>
          <a:p>
            <a:pPr marL="342900" indent="-342900" algn="just">
              <a:buAutoNum type="arabicParenR"/>
            </a:pPr>
            <a:r>
              <a:rPr lang="pt-BR" sz="1200" dirty="0"/>
              <a:t>Cobrar da FINATEC o lançamento da licitação de obras e </a:t>
            </a:r>
            <a:r>
              <a:rPr lang="pt-BR" sz="1200" smtClean="0"/>
              <a:t>diligenciamento</a:t>
            </a:r>
            <a:r>
              <a:rPr lang="pt-BR" sz="1400" smtClean="0"/>
              <a:t>;</a:t>
            </a:r>
            <a:endParaRPr lang="pt-BR" sz="1400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325166" y="2364234"/>
            <a:ext cx="39359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latin typeface="Aptos Narrow" panose="020B0004020202020204" pitchFamily="34" charset="0"/>
              </a:rPr>
              <a:t>Viabilização de serviço de revitalização do MCTER:</a:t>
            </a:r>
            <a:endParaRPr lang="pt-BR" sz="1600" dirty="0">
              <a:latin typeface="Aptos Narrow" panose="020B0004020202020204" pitchFamily="34" charset="0"/>
            </a:endParaRPr>
          </a:p>
          <a:p>
            <a:pPr marL="342900" indent="-342900">
              <a:buAutoNum type="arabicPeriod"/>
            </a:pPr>
            <a:r>
              <a:rPr lang="pt-BR" sz="1600" dirty="0" smtClean="0">
                <a:latin typeface="Aptos Narrow" panose="020B0004020202020204" pitchFamily="34" charset="0"/>
              </a:rPr>
              <a:t>Dotar de estrutura física e laboratorial adequada </a:t>
            </a:r>
            <a:r>
              <a:rPr lang="pt-BR" sz="1600" smtClean="0">
                <a:latin typeface="Aptos Narrow" panose="020B0004020202020204" pitchFamily="34" charset="0"/>
              </a:rPr>
              <a:t>e focada </a:t>
            </a:r>
            <a:r>
              <a:rPr lang="pt-BR" sz="1600" dirty="0" smtClean="0">
                <a:latin typeface="Aptos Narrow" panose="020B0004020202020204" pitchFamily="34" charset="0"/>
              </a:rPr>
              <a:t>no setor de Óleo &amp; Gás;</a:t>
            </a:r>
          </a:p>
          <a:p>
            <a:pPr marL="342900" indent="-342900">
              <a:buAutoNum type="arabicPeriod"/>
            </a:pPr>
            <a:r>
              <a:rPr lang="pt-BR" sz="1600" dirty="0" smtClean="0">
                <a:latin typeface="Aptos Narrow" panose="020B0004020202020204" pitchFamily="34" charset="0"/>
              </a:rPr>
              <a:t>Contribuir com projetos de PD &amp; I nas áreas de estratigrafia, modelagem de bacia e </a:t>
            </a:r>
            <a:r>
              <a:rPr lang="pt-BR" sz="1600" dirty="0" err="1" smtClean="0">
                <a:latin typeface="Aptos Narrow" panose="020B0004020202020204" pitchFamily="34" charset="0"/>
              </a:rPr>
              <a:t>paleoambiente</a:t>
            </a:r>
            <a:r>
              <a:rPr lang="pt-BR" sz="1600" dirty="0" smtClean="0">
                <a:latin typeface="Aptos Narrow" panose="020B0004020202020204" pitchFamily="34" charset="0"/>
              </a:rPr>
              <a:t> </a:t>
            </a:r>
            <a:endParaRPr lang="pt-BR" sz="1600" dirty="0">
              <a:latin typeface="Aptos Narrow" panose="020B0004020202020204" pitchFamily="34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1225" y="1745057"/>
            <a:ext cx="126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etrobras Sans" panose="020B0606020204030204" pitchFamily="34" charset="0"/>
              </a:rPr>
              <a:t>Escopo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1225" y="203027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2023/00648-2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273321" y="5452331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25165" y="5972256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86,464 </a:t>
            </a:r>
            <a:r>
              <a:rPr lang="pt-BR" sz="1200" dirty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1681963" y="4927589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1681963" y="5432557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095223" y="5366861"/>
            <a:ext cx="1819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60 MM </a:t>
            </a:r>
            <a:endParaRPr lang="pt-BR" sz="1200" dirty="0">
              <a:latin typeface="Aptos Narrow" panose="020B0004020202020204" pitchFamily="34" charset="0"/>
            </a:endParaRPr>
          </a:p>
          <a:p>
            <a:endParaRPr lang="pt-BR" sz="1200" i="1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825</TotalTime>
  <Words>331</Words>
  <Application>Microsoft Office PowerPoint</Application>
  <PresentationFormat>Widescreen</PresentationFormat>
  <Paragraphs>71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45</cp:revision>
  <dcterms:created xsi:type="dcterms:W3CDTF">2025-07-07T09:08:08Z</dcterms:created>
  <dcterms:modified xsi:type="dcterms:W3CDTF">2025-08-01T15:44:37Z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