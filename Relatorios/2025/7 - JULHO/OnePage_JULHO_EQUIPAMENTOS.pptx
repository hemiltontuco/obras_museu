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R$ 16,4 </a:t>
            </a:r>
            <a:r>
              <a:rPr lang="pt-BR" sz="1400" dirty="0" smtClean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39323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R$ 30 </a:t>
            </a:r>
            <a:r>
              <a:rPr lang="pt-BR" sz="1400" dirty="0" smtClean="0">
                <a:latin typeface="Aptos Narrow" panose="020B0004020202020204" pitchFamily="34" charset="0"/>
              </a:rPr>
              <a:t>MM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R$ </a:t>
            </a:r>
            <a:r>
              <a:rPr lang="pt-BR" sz="1400">
                <a:latin typeface="Aptos Narrow" panose="020B0004020202020204" pitchFamily="34" charset="0"/>
              </a:rPr>
              <a:t>10 </a:t>
            </a:r>
            <a:r>
              <a:rPr lang="pt-BR" sz="1400" smtClean="0">
                <a:latin typeface="Aptos Narrow" panose="020B0004020202020204" pitchFamily="34" charset="0"/>
              </a:rPr>
              <a:t>MM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174565"/>
              </p:ext>
            </p:extLst>
          </p:nvPr>
        </p:nvGraphicFramePr>
        <p:xfrm>
          <a:off x="4469408" y="2177489"/>
          <a:ext cx="7418223" cy="25298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86396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822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42369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Reuniões </a:t>
                      </a:r>
                      <a:r>
                        <a:rPr lang="pt-BR" sz="1000" dirty="0" smtClean="0"/>
                        <a:t>com empresas </a:t>
                      </a:r>
                      <a:r>
                        <a:rPr lang="pt-BR" sz="1000" baseline="0" dirty="0" smtClean="0"/>
                        <a:t>(</a:t>
                      </a:r>
                      <a:r>
                        <a:rPr lang="pt-BR" sz="1000" baseline="0" dirty="0" err="1" smtClean="0"/>
                        <a:t>Thermo</a:t>
                      </a:r>
                      <a:r>
                        <a:rPr lang="pt-BR" sz="1000" baseline="0" dirty="0" smtClean="0"/>
                        <a:t> Fischer, JEOL </a:t>
                      </a:r>
                      <a:r>
                        <a:rPr lang="pt-BR" sz="1000" baseline="0" dirty="0" err="1" smtClean="0"/>
                        <a:t>Brazil</a:t>
                      </a:r>
                      <a:r>
                        <a:rPr lang="pt-BR" sz="1000" baseline="0" dirty="0" smtClean="0"/>
                        <a:t>, EXUM </a:t>
                      </a:r>
                      <a:r>
                        <a:rPr lang="pt-BR" sz="1000" baseline="0" dirty="0" err="1" smtClean="0"/>
                        <a:t>Instruments</a:t>
                      </a:r>
                      <a:r>
                        <a:rPr lang="pt-BR" sz="1000" baseline="0" dirty="0" smtClean="0"/>
                        <a:t> e </a:t>
                      </a:r>
                      <a:r>
                        <a:rPr lang="pt-BR" sz="1000" baseline="0" dirty="0" err="1" smtClean="0"/>
                        <a:t>Applied</a:t>
                      </a:r>
                      <a:r>
                        <a:rPr lang="pt-BR" sz="1000" baseline="0" dirty="0" smtClean="0"/>
                        <a:t> </a:t>
                      </a:r>
                      <a:r>
                        <a:rPr lang="pt-BR" sz="1000" baseline="0" dirty="0" err="1" smtClean="0"/>
                        <a:t>Spectra</a:t>
                      </a:r>
                      <a:r>
                        <a:rPr lang="pt-BR" sz="1000" baseline="0" dirty="0" smtClean="0"/>
                        <a:t>) </a:t>
                      </a:r>
                      <a:r>
                        <a:rPr lang="pt-BR" sz="1000" baseline="0" dirty="0" smtClean="0"/>
                        <a:t>visando definir a listagem final de equipamentos para a conclusão dos laboratórios do CRG</a:t>
                      </a:r>
                      <a:r>
                        <a:rPr lang="pt-BR" sz="1000" dirty="0" smtClean="0"/>
                        <a:t>,</a:t>
                      </a:r>
                      <a:r>
                        <a:rPr lang="pt-BR" sz="1000" baseline="0" dirty="0" smtClean="0"/>
                        <a:t> além do lab.  </a:t>
                      </a:r>
                      <a:r>
                        <a:rPr lang="pt-BR" sz="1000" baseline="0" dirty="0" err="1" smtClean="0"/>
                        <a:t>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6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Execução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Listagem </a:t>
                      </a:r>
                      <a:r>
                        <a:rPr lang="pt-BR" sz="1000" baseline="0" dirty="0" smtClean="0"/>
                        <a:t>e orçamento  para a compra dos equipamentos (CRG) no curto prazo do Laboratório de Isótopos </a:t>
                      </a:r>
                      <a:r>
                        <a:rPr lang="pt-BR" sz="1000" baseline="0" dirty="0" err="1" smtClean="0"/>
                        <a:t>Radiogênicos</a:t>
                      </a:r>
                      <a:r>
                        <a:rPr lang="pt-BR" sz="1000" baseline="0" dirty="0" smtClean="0"/>
                        <a:t>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Concluída</a:t>
                      </a:r>
                    </a:p>
                    <a:p>
                      <a:pPr algn="ctr"/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 smtClean="0"/>
                        <a:t>Elaboração do Termo de Referência</a:t>
                      </a:r>
                      <a:r>
                        <a:rPr lang="pt-BR" sz="1000" baseline="0" dirty="0" smtClean="0"/>
                        <a:t> para o p</a:t>
                      </a:r>
                      <a:r>
                        <a:rPr lang="pt-BR" sz="1000" dirty="0" smtClean="0"/>
                        <a:t>rocesso licitatório de aquisição imediata de equipamentos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err="1" smtClean="0"/>
                        <a:t>Concuído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913120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>
                          <a:solidFill>
                            <a:schemeClr val="tx1"/>
                          </a:solidFill>
                        </a:rPr>
                        <a:t>Visita a laboratoriais nacionais</a:t>
                      </a:r>
                      <a:r>
                        <a:rPr lang="pt-BR" sz="1000" baseline="0" dirty="0" smtClean="0">
                          <a:solidFill>
                            <a:schemeClr val="tx1"/>
                          </a:solidFill>
                        </a:rPr>
                        <a:t> e internacionais visando a finalização conceitual dos </a:t>
                      </a:r>
                      <a:r>
                        <a:rPr lang="pt-BR" sz="1000" baseline="0" dirty="0" err="1" smtClean="0">
                          <a:solidFill>
                            <a:schemeClr val="tx1"/>
                          </a:solidFill>
                        </a:rPr>
                        <a:t>labs</a:t>
                      </a:r>
                      <a:r>
                        <a:rPr lang="pt-BR" sz="1000" baseline="0" dirty="0" smtClean="0">
                          <a:solidFill>
                            <a:schemeClr val="tx1"/>
                          </a:solidFill>
                        </a:rPr>
                        <a:t> do CRG – Pesquisador </a:t>
                      </a:r>
                      <a:r>
                        <a:rPr lang="pt-BR" sz="1000" baseline="0" dirty="0" err="1" smtClean="0">
                          <a:solidFill>
                            <a:schemeClr val="tx1"/>
                          </a:solidFill>
                        </a:rPr>
                        <a:t>Crisógono</a:t>
                      </a:r>
                      <a:r>
                        <a:rPr lang="pt-BR" sz="1000" baseline="0" dirty="0" smtClean="0">
                          <a:solidFill>
                            <a:schemeClr val="tx1"/>
                          </a:solidFill>
                        </a:rPr>
                        <a:t> Vasconcelos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Execução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33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Reuniões</a:t>
                      </a:r>
                      <a:r>
                        <a:rPr lang="pt-BR" sz="1000" baseline="0" dirty="0" smtClean="0"/>
                        <a:t> com a </a:t>
                      </a:r>
                      <a:r>
                        <a:rPr lang="pt-BR" sz="1000" dirty="0" smtClean="0"/>
                        <a:t> Petrobras visando concluir</a:t>
                      </a:r>
                      <a:r>
                        <a:rPr lang="pt-BR" sz="1000" baseline="0" dirty="0" smtClean="0"/>
                        <a:t> o conceito final dos laboratórios do CRG, além do lab.  </a:t>
                      </a:r>
                      <a:r>
                        <a:rPr lang="pt-BR" sz="1000" baseline="0" dirty="0" err="1" smtClean="0"/>
                        <a:t>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5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Execução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590098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 smtClean="0"/>
              <a:t>Execução do Termo de Referência para aquisição dos equipamentos e busca continua por novas tecnologias para implementação no CRG. </a:t>
            </a:r>
            <a:endParaRPr lang="pt-BR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450552"/>
            <a:ext cx="3609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r>
              <a:rPr lang="pt-BR" sz="1400" dirty="0" smtClean="0"/>
              <a:t>1) Finalização do processo </a:t>
            </a:r>
            <a:r>
              <a:rPr lang="pt-BR" sz="1400" dirty="0"/>
              <a:t>licitatório para aquisição dos </a:t>
            </a:r>
            <a:r>
              <a:rPr lang="pt-BR" sz="1400" dirty="0" smtClean="0"/>
              <a:t>equipamentos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Tempo </a:t>
            </a: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de Construção do </a:t>
            </a: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Processo </a:t>
            </a: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de </a:t>
            </a: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 Instalação </a:t>
            </a: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263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17</cp:revision>
  <dcterms:created xsi:type="dcterms:W3CDTF">2025-07-07T09:08:08Z</dcterms:created>
  <dcterms:modified xsi:type="dcterms:W3CDTF">2025-08-01T15:39:32Z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