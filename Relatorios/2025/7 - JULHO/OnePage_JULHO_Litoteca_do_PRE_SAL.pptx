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57679" y="4747053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err="1" smtClean="0">
                <a:solidFill>
                  <a:srgbClr val="00B2A9"/>
                </a:solidFill>
                <a:latin typeface="Petrobras Sans" panose="020B0606020204030204" pitchFamily="34" charset="0"/>
              </a:rPr>
              <a:t>Litoteca</a:t>
            </a:r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 do </a:t>
            </a:r>
            <a:r>
              <a:rPr lang="pt-BR" sz="2200" b="1" dirty="0" err="1" smtClean="0">
                <a:solidFill>
                  <a:srgbClr val="00B2A9"/>
                </a:solidFill>
                <a:latin typeface="Petrobras Sans" panose="020B0606020204030204" pitchFamily="34" charset="0"/>
              </a:rPr>
              <a:t>Pré</a:t>
            </a:r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-Sal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1000"/>
            <a:ext cx="7514119" cy="2997200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79" y="4747053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9693" y="158626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482924" y="1610898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9693" y="1845321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95603" y="159235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50128" y="1844127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19/05/2027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06157" y="172891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27336" y="4880630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236" y="171356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811801" y="4793778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351232" y="1631344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22094" y="1698441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16452" y="1661415"/>
            <a:ext cx="0" cy="51355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95703" y="4812516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1054" y="4755145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416503"/>
              </p:ext>
            </p:extLst>
          </p:nvPr>
        </p:nvGraphicFramePr>
        <p:xfrm>
          <a:off x="4347679" y="2191942"/>
          <a:ext cx="7497249" cy="240724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5242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4671317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920778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259912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Envio</a:t>
                      </a:r>
                      <a:r>
                        <a:rPr lang="pt-BR" sz="1100" baseline="0" dirty="0" smtClean="0"/>
                        <a:t> para a FINATEC do Termo de Referência/Obra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-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2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Solicitação</a:t>
                      </a:r>
                      <a:r>
                        <a:rPr lang="pt-BR" sz="1100" baseline="0" dirty="0" smtClean="0"/>
                        <a:t> (Pref. RJ) </a:t>
                      </a:r>
                      <a:r>
                        <a:rPr lang="pt-BR" sz="1100" dirty="0" smtClean="0"/>
                        <a:t> de</a:t>
                      </a:r>
                      <a:r>
                        <a:rPr lang="pt-BR" sz="1100" baseline="0" dirty="0" smtClean="0"/>
                        <a:t> l</a:t>
                      </a:r>
                      <a:r>
                        <a:rPr lang="pt-BR" sz="1100" dirty="0" smtClean="0"/>
                        <a:t>icença de Obra – </a:t>
                      </a:r>
                      <a:r>
                        <a:rPr lang="pt-BR" sz="1100" dirty="0" err="1" smtClean="0"/>
                        <a:t>Litoteca</a:t>
                      </a:r>
                      <a:r>
                        <a:rPr lang="pt-BR" sz="1100" dirty="0" smtClean="0"/>
                        <a:t> </a:t>
                      </a:r>
                      <a:r>
                        <a:rPr lang="pt-BR" sz="1100" dirty="0" smtClean="0"/>
                        <a:t>do</a:t>
                      </a:r>
                      <a:r>
                        <a:rPr lang="pt-BR" sz="1100" baseline="0" dirty="0" smtClean="0"/>
                        <a:t> </a:t>
                      </a:r>
                      <a:r>
                        <a:rPr lang="pt-BR" sz="1100" baseline="0" dirty="0" err="1" smtClean="0"/>
                        <a:t>Pré</a:t>
                      </a:r>
                      <a:r>
                        <a:rPr lang="pt-BR" sz="1100" baseline="0" smtClean="0"/>
                        <a:t>-Sal </a:t>
                      </a:r>
                      <a:r>
                        <a:rPr lang="pt-BR" sz="1100" smtClean="0"/>
                        <a:t>(EISPRO2022/04440</a:t>
                      </a:r>
                      <a:r>
                        <a:rPr lang="pt-BR" sz="1100" dirty="0" smtClean="0"/>
                        <a:t>)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-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932772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3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Lançamento</a:t>
                      </a:r>
                      <a:r>
                        <a:rPr lang="pt-BR" sz="1100" baseline="0" dirty="0" smtClean="0"/>
                        <a:t> do p</a:t>
                      </a:r>
                      <a:r>
                        <a:rPr lang="pt-BR" sz="1100" dirty="0" smtClean="0"/>
                        <a:t>rocesso licitatório pela FINATEC para o</a:t>
                      </a:r>
                      <a:r>
                        <a:rPr lang="pt-BR" sz="1100" baseline="0" dirty="0" smtClean="0"/>
                        <a:t> projeto de obra da </a:t>
                      </a:r>
                      <a:r>
                        <a:rPr lang="pt-BR" sz="1100" baseline="0" dirty="0" err="1" smtClean="0"/>
                        <a:t>Litoteca</a:t>
                      </a:r>
                      <a:r>
                        <a:rPr lang="pt-BR" sz="1100" baseline="0" dirty="0" smtClean="0"/>
                        <a:t> do </a:t>
                      </a:r>
                      <a:r>
                        <a:rPr lang="pt-BR" sz="1100" baseline="0" dirty="0" err="1" smtClean="0"/>
                        <a:t>Pré</a:t>
                      </a:r>
                      <a:r>
                        <a:rPr lang="pt-BR" sz="1100" baseline="0" dirty="0" smtClean="0"/>
                        <a:t>-Sal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1/2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 smtClean="0"/>
                        <a:t>Em</a:t>
                      </a:r>
                      <a:r>
                        <a:rPr lang="pt-BR" sz="1100" baseline="0" dirty="0" smtClean="0"/>
                        <a:t> andamento</a:t>
                      </a:r>
                      <a:endParaRPr lang="pt-BR" sz="11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605782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100" smtClean="0"/>
                        <a:t>4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 smtClean="0"/>
                        <a:t>Lançamento</a:t>
                      </a:r>
                      <a:r>
                        <a:rPr lang="pt-BR" sz="1100" baseline="0" dirty="0" smtClean="0"/>
                        <a:t> do p</a:t>
                      </a:r>
                      <a:r>
                        <a:rPr lang="pt-BR" sz="1100" dirty="0" smtClean="0"/>
                        <a:t>rocesso licitatório</a:t>
                      </a:r>
                      <a:r>
                        <a:rPr lang="pt-BR" sz="1100" baseline="0" dirty="0" smtClean="0"/>
                        <a:t> pela FINATEC para o </a:t>
                      </a:r>
                      <a:r>
                        <a:rPr lang="pt-BR" sz="1100" baseline="0" dirty="0" err="1" smtClean="0"/>
                        <a:t>diligenciamento</a:t>
                      </a:r>
                      <a:r>
                        <a:rPr lang="pt-BR" sz="1100" baseline="0" dirty="0" smtClean="0"/>
                        <a:t> da obra da </a:t>
                      </a:r>
                      <a:r>
                        <a:rPr lang="pt-BR" sz="1100" baseline="0" dirty="0" err="1" smtClean="0"/>
                        <a:t>Litoteca</a:t>
                      </a:r>
                      <a:r>
                        <a:rPr lang="pt-BR" sz="1100" baseline="0" dirty="0" smtClean="0"/>
                        <a:t> do </a:t>
                      </a:r>
                      <a:r>
                        <a:rPr lang="pt-BR" sz="1100" baseline="0" dirty="0" err="1" smtClean="0"/>
                        <a:t>Pré</a:t>
                      </a:r>
                      <a:r>
                        <a:rPr lang="pt-BR" sz="1100" baseline="0" dirty="0" smtClean="0"/>
                        <a:t>-Sal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1/2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 smtClean="0"/>
                        <a:t>Em</a:t>
                      </a:r>
                      <a:r>
                        <a:rPr lang="pt-BR" sz="1100" baseline="0" dirty="0" smtClean="0"/>
                        <a:t> andamento</a:t>
                      </a:r>
                      <a:endParaRPr lang="pt-BR" sz="11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75424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5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 smtClean="0"/>
                        <a:t>Espera-se</a:t>
                      </a:r>
                      <a:r>
                        <a:rPr lang="pt-BR" sz="1100" baseline="0" dirty="0" smtClean="0"/>
                        <a:t> manifestação da Petrobras em relação ao </a:t>
                      </a:r>
                      <a:r>
                        <a:rPr lang="pt-BR" sz="1100" baseline="0" dirty="0" err="1" smtClean="0"/>
                        <a:t>email</a:t>
                      </a:r>
                      <a:r>
                        <a:rPr lang="pt-BR" sz="1100" baseline="0" dirty="0" smtClean="0"/>
                        <a:t> (30/07/2025) encaminhado para  o Gerente de Contrato e Interlocutor Técnico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-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484163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/>
              <a:t>Início da elaboração </a:t>
            </a:r>
            <a:r>
              <a:rPr lang="pt-BR" dirty="0" smtClean="0"/>
              <a:t> do processo licitatório para construção da </a:t>
            </a:r>
            <a:r>
              <a:rPr lang="pt-BR" dirty="0" err="1" smtClean="0"/>
              <a:t>Litoteca</a:t>
            </a:r>
            <a:r>
              <a:rPr lang="pt-BR" dirty="0" smtClean="0"/>
              <a:t> do </a:t>
            </a:r>
            <a:r>
              <a:rPr lang="pt-BR" dirty="0" err="1" smtClean="0"/>
              <a:t>Pré</a:t>
            </a:r>
            <a:r>
              <a:rPr lang="pt-BR" dirty="0" smtClean="0"/>
              <a:t>-Sal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199831" y="5181848"/>
            <a:ext cx="3621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as licenças de obra e demolição;</a:t>
            </a:r>
          </a:p>
          <a:p>
            <a:pPr marL="342900" indent="-342900" algn="just"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Necessidade de manifestação da Petrobras para aditivo de prazo e reajuste das planilhas orçamentárias;</a:t>
            </a:r>
          </a:p>
          <a:p>
            <a:pPr marL="342900" indent="-342900" algn="just"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FINATEC para as licitações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65937" y="4664498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300487" y="4741456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91345" y="5137236"/>
            <a:ext cx="36477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400" dirty="0" smtClean="0"/>
              <a:t>Obtenção da licença de obras;</a:t>
            </a:r>
            <a:endParaRPr lang="pt-BR" sz="1400" dirty="0"/>
          </a:p>
          <a:p>
            <a:pPr marL="342900" indent="-342900" algn="just">
              <a:buAutoNum type="arabicParenR"/>
            </a:pPr>
            <a:r>
              <a:rPr lang="pt-BR" sz="1400" dirty="0"/>
              <a:t>Cobrar da FINATEC o lançamento da licitação de obras e </a:t>
            </a:r>
            <a:r>
              <a:rPr lang="pt-BR" sz="1400" dirty="0" err="1" smtClean="0"/>
              <a:t>diligenciamento</a:t>
            </a:r>
            <a:r>
              <a:rPr lang="pt-BR" sz="1400" dirty="0" smtClean="0"/>
              <a:t>;</a:t>
            </a:r>
            <a:endParaRPr lang="pt-BR" sz="14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83740" y="2271754"/>
            <a:ext cx="3824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A edificação da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Urca da Rede SGB de PD &amp; I com Rochas e Fluídos de Bacias Petrolíferas.</a:t>
            </a:r>
            <a:endParaRPr lang="pt-BR" sz="1600" dirty="0">
              <a:latin typeface="Aptos Narrow" panose="020B0004020202020204" pitchFamily="34" charset="0"/>
            </a:endParaRPr>
          </a:p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Construir 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smtClean="0">
                <a:latin typeface="Aptos Narrow" panose="020B0004020202020204" pitchFamily="34" charset="0"/>
              </a:rPr>
              <a:t> que será </a:t>
            </a:r>
            <a:r>
              <a:rPr lang="pt-BR" sz="1600" dirty="0" smtClean="0">
                <a:latin typeface="Aptos Narrow" panose="020B0004020202020204" pitchFamily="34" charset="0"/>
              </a:rPr>
              <a:t>destinada ao acondicionamento de amostras de testemunhos de sondagem, calha, amostras </a:t>
            </a:r>
            <a:r>
              <a:rPr lang="pt-BR" sz="1600" dirty="0" err="1" smtClean="0">
                <a:latin typeface="Aptos Narrow" panose="020B0004020202020204" pitchFamily="34" charset="0"/>
              </a:rPr>
              <a:t>laterias</a:t>
            </a:r>
            <a:r>
              <a:rPr lang="pt-BR" sz="1600" dirty="0" smtClean="0">
                <a:latin typeface="Aptos Narrow" panose="020B0004020202020204" pitchFamily="34" charset="0"/>
              </a:rPr>
              <a:t>, plugues, lâminas, fluídos e resíduos de análises. Instalação de laboratórios para unidade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0544" y="1696337"/>
            <a:ext cx="253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Petrobras Sans" panose="020B0606020204030204" pitchFamily="34" charset="0"/>
              </a:rPr>
              <a:t>Plano de Trabalho</a:t>
            </a:r>
            <a:endParaRPr lang="pt-BR" b="1" dirty="0">
              <a:latin typeface="Petrobras Sans" panose="020B0606020204030204" pitchFamily="34" charset="0"/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0544" y="198155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2022/00433-3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73009" y="4880630"/>
            <a:ext cx="1862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6,9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31/07/2025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b="1" dirty="0" smtClean="0">
              <a:solidFill>
                <a:srgbClr val="FFFF00"/>
              </a:solidFill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45946" y="5452331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53496" y="5893620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16,92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061406" y="491553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074493" y="540592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076676" y="5896305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350371" y="4897957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264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48</cp:revision>
  <dcterms:created xsi:type="dcterms:W3CDTF">2025-07-07T09:08:08Z</dcterms:created>
  <dcterms:modified xsi:type="dcterms:W3CDTF">2025-08-01T15:42:18Z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