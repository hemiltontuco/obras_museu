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66" d="100"/>
          <a:sy n="66" d="100"/>
        </p:scale>
        <p:origin x="81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Viegas Alves Fernandes de Souza" userId="de047f23-ab0c-4cfb-932c-5b762d409bbc" providerId="ADAL" clId="{A3DBC9EE-D7FE-4D12-869A-209AA71D3593}"/>
    <pc:docChg chg="undo custSel modSld">
      <pc:chgData name="Igor Viegas Alves Fernandes de Souza" userId="de047f23-ab0c-4cfb-932c-5b762d409bbc" providerId="ADAL" clId="{A3DBC9EE-D7FE-4D12-869A-209AA71D3593}" dt="2025-07-07T11:00:27.153" v="54" actId="1036"/>
      <pc:docMkLst>
        <pc:docMk/>
      </pc:docMkLst>
      <pc:sldChg chg="addSp delSp modSp mod">
        <pc:chgData name="Igor Viegas Alves Fernandes de Souza" userId="de047f23-ab0c-4cfb-932c-5b762d409bbc" providerId="ADAL" clId="{A3DBC9EE-D7FE-4D12-869A-209AA71D3593}" dt="2025-07-07T11:00:27.153" v="54" actId="1036"/>
        <pc:sldMkLst>
          <pc:docMk/>
          <pc:sldMk cId="1174186361" sldId="256"/>
        </pc:sldMkLst>
        <pc:spChg chg="mod">
          <ac:chgData name="Igor Viegas Alves Fernandes de Souza" userId="de047f23-ab0c-4cfb-932c-5b762d409bbc" providerId="ADAL" clId="{A3DBC9EE-D7FE-4D12-869A-209AA71D3593}" dt="2025-07-07T10:58:38.493" v="37" actId="1038"/>
          <ac:spMkLst>
            <pc:docMk/>
            <pc:sldMk cId="1174186361" sldId="256"/>
            <ac:spMk id="73" creationId="{220F4DB5-7BD2-18A4-AF1C-90613E18A96C}"/>
          </ac:spMkLst>
        </pc:spChg>
        <pc:spChg chg="mod">
          <ac:chgData name="Igor Viegas Alves Fernandes de Souza" userId="de047f23-ab0c-4cfb-932c-5b762d409bbc" providerId="ADAL" clId="{A3DBC9EE-D7FE-4D12-869A-209AA71D3593}" dt="2025-07-07T11:00:10.524" v="51" actId="14100"/>
          <ac:spMkLst>
            <pc:docMk/>
            <pc:sldMk cId="1174186361" sldId="256"/>
            <ac:spMk id="77" creationId="{33400242-7B86-4252-B68E-3358F96E31E4}"/>
          </ac:spMkLst>
        </pc:spChg>
        <pc:spChg chg="mod">
          <ac:chgData name="Igor Viegas Alves Fernandes de Souza" userId="de047f23-ab0c-4cfb-932c-5b762d409bbc" providerId="ADAL" clId="{A3DBC9EE-D7FE-4D12-869A-209AA71D3593}" dt="2025-07-07T11:00:27.153" v="54" actId="1036"/>
          <ac:spMkLst>
            <pc:docMk/>
            <pc:sldMk cId="1174186361" sldId="256"/>
            <ac:spMk id="80" creationId="{144D084B-70A7-B767-2F59-CB16F5008E9B}"/>
          </ac:spMkLst>
        </pc:spChg>
        <pc:grpChg chg="mod">
          <ac:chgData name="Igor Viegas Alves Fernandes de Souza" userId="de047f23-ab0c-4cfb-932c-5b762d409bbc" providerId="ADAL" clId="{A3DBC9EE-D7FE-4D12-869A-209AA71D3593}" dt="2025-07-07T10:56:19.449" v="0" actId="1076"/>
          <ac:grpSpMkLst>
            <pc:docMk/>
            <pc:sldMk cId="1174186361" sldId="256"/>
            <ac:grpSpMk id="15" creationId="{97F93987-C282-929B-BD30-DBD83795661D}"/>
          </ac:grpSpMkLst>
        </pc:grpChg>
        <pc:graphicFrameChg chg="add del mod">
          <ac:chgData name="Igor Viegas Alves Fernandes de Souza" userId="de047f23-ab0c-4cfb-932c-5b762d409bbc" providerId="ADAL" clId="{A3DBC9EE-D7FE-4D12-869A-209AA71D3593}" dt="2025-07-07T10:59:59.844" v="49" actId="478"/>
          <ac:graphicFrameMkLst>
            <pc:docMk/>
            <pc:sldMk cId="1174186361" sldId="256"/>
            <ac:graphicFrameMk id="91" creationId="{B325A51A-A767-DAF6-B32B-37650F5F1312}"/>
          </ac:graphicFrameMkLst>
        </pc:graphicFrameChg>
        <pc:picChg chg="mod">
          <ac:chgData name="Igor Viegas Alves Fernandes de Souza" userId="de047f23-ab0c-4cfb-932c-5b762d409bbc" providerId="ADAL" clId="{A3DBC9EE-D7FE-4D12-869A-209AA71D3593}" dt="2025-07-07T10:58:38.493" v="37" actId="1038"/>
          <ac:picMkLst>
            <pc:docMk/>
            <pc:sldMk cId="1174186361" sldId="256"/>
            <ac:picMk id="87" creationId="{601BA0B5-B29A-588E-04E4-8BE35D464982}"/>
          </ac:picMkLst>
        </pc:picChg>
        <pc:cxnChg chg="del mod">
          <ac:chgData name="Igor Viegas Alves Fernandes de Souza" userId="de047f23-ab0c-4cfb-932c-5b762d409bbc" providerId="ADAL" clId="{A3DBC9EE-D7FE-4D12-869A-209AA71D3593}" dt="2025-07-07T10:58:52.297" v="39" actId="478"/>
          <ac:cxnSpMkLst>
            <pc:docMk/>
            <pc:sldMk cId="1174186361" sldId="256"/>
            <ac:cxnSpMk id="78" creationId="{029B00B6-4928-5B79-62A3-65449AABAC10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49.645" v="38" actId="14100"/>
          <ac:cxnSpMkLst>
            <pc:docMk/>
            <pc:sldMk cId="1174186361" sldId="256"/>
            <ac:cxnSpMk id="88" creationId="{0146927F-48F1-4B26-4D33-28261A481206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59.490" v="40" actId="571"/>
          <ac:cxnSpMkLst>
            <pc:docMk/>
            <pc:sldMk cId="1174186361" sldId="256"/>
            <ac:cxnSpMk id="90" creationId="{A24625C9-39D9-B8D4-77F9-AA9A279D3E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02/01/2026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2.svg"/><Relationship Id="rId18" Type="http://schemas.openxmlformats.org/officeDocument/2006/relationships/image" Target="../media/image10.pn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7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6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57681" y="4901149"/>
            <a:ext cx="3704256" cy="1701282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333464"/>
            <a:ext cx="3708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dirty="0">
                <a:solidFill>
                  <a:srgbClr val="00B2A9"/>
                </a:solidFill>
                <a:latin typeface="Petrobras Sans" panose="020B0606020204030204" pitchFamily="34" charset="0"/>
              </a:rPr>
              <a:t>Centro de Referência em Geociências - Equipamentos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85218" y="1650999"/>
            <a:ext cx="7514119" cy="3096053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47680" y="4901149"/>
            <a:ext cx="3691421" cy="1701282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0" name="CaixaDeTexto 2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433917" y="2364234"/>
            <a:ext cx="3708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ptos Narrow" panose="020B0004020202020204" pitchFamily="34" charset="0"/>
              </a:rPr>
              <a:t>Aquisição de equipamentos para o Centro de Referências em Geociências do SGB para os laboratórios:</a:t>
            </a:r>
          </a:p>
          <a:p>
            <a:r>
              <a:rPr lang="pt-BR" sz="1600" dirty="0">
                <a:latin typeface="Aptos Narrow" panose="020B0004020202020204" pitchFamily="34" charset="0"/>
              </a:rPr>
              <a:t>1. Preparação de Amostras</a:t>
            </a:r>
          </a:p>
          <a:p>
            <a:r>
              <a:rPr lang="pt-BR" sz="1600" dirty="0">
                <a:latin typeface="Aptos Narrow" panose="020B0004020202020204" pitchFamily="34" charset="0"/>
              </a:rPr>
              <a:t>2. Imageamento e Análise Mineral</a:t>
            </a:r>
          </a:p>
          <a:p>
            <a:r>
              <a:rPr lang="pt-BR" sz="1600" dirty="0">
                <a:latin typeface="Aptos Narrow" panose="020B0004020202020204" pitchFamily="34" charset="0"/>
              </a:rPr>
              <a:t>3. Petrocronologia e Traçadores Isotópicos</a:t>
            </a:r>
          </a:p>
          <a:p>
            <a:r>
              <a:rPr lang="pt-BR" sz="1600" dirty="0">
                <a:latin typeface="Aptos Narrow" panose="020B0004020202020204" pitchFamily="34" charset="0"/>
              </a:rPr>
              <a:t>4. Isótopos Estáveis Avançado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108942" y="1626421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pic>
        <p:nvPicPr>
          <p:cNvPr id="34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550662" y="1629605"/>
            <a:ext cx="558280" cy="55828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108942" y="1863514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15/05/2025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8640519" y="1637477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8640519" y="1874570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14/05/2027</a:t>
            </a:r>
          </a:p>
        </p:txBody>
      </p:sp>
      <p:pic>
        <p:nvPicPr>
          <p:cNvPr id="42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 rot="10800000">
            <a:off x="8178520" y="1668590"/>
            <a:ext cx="445021" cy="445021"/>
          </a:xfrm>
          <a:prstGeom prst="rect">
            <a:avLst/>
          </a:prstGeom>
        </p:spPr>
      </p:pic>
      <p:pic>
        <p:nvPicPr>
          <p:cNvPr id="44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861789" y="4980189"/>
            <a:ext cx="581735" cy="581735"/>
          </a:xfrm>
          <a:prstGeom prst="rect">
            <a:avLst/>
          </a:prstGeom>
        </p:spPr>
      </p:pic>
      <p:sp>
        <p:nvSpPr>
          <p:cNvPr id="45" name="CaixaDeTexto 44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489232" y="5548106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420030" y="5903619"/>
            <a:ext cx="14652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ptos Narrow" panose="020B0004020202020204" pitchFamily="34" charset="0"/>
              </a:rPr>
              <a:t>R$ 56,4 MM</a:t>
            </a:r>
          </a:p>
        </p:txBody>
      </p:sp>
      <p:pic>
        <p:nvPicPr>
          <p:cNvPr id="48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433917" y="1762288"/>
            <a:ext cx="539750" cy="539750"/>
          </a:xfrm>
          <a:prstGeom prst="rect">
            <a:avLst/>
          </a:prstGeom>
        </p:spPr>
      </p:pic>
      <p:sp>
        <p:nvSpPr>
          <p:cNvPr id="49" name="CaixaDeTexto 48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1225" y="1745057"/>
            <a:ext cx="1267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Escopo</a:t>
            </a:r>
          </a:p>
        </p:txBody>
      </p:sp>
      <p:sp>
        <p:nvSpPr>
          <p:cNvPr id="50" name="CaixaDeTexto 49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1225" y="203027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ptos Narrow" panose="020B0004020202020204" pitchFamily="34" charset="0"/>
              </a:rPr>
              <a:t>2023/00601-6</a:t>
            </a:r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2203819" y="4966726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2216906" y="5457109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23C2D7D7-676A-BB79-70C3-B5559B2B78A3}"/>
              </a:ext>
            </a:extLst>
          </p:cNvPr>
          <p:cNvSpPr/>
          <p:nvPr/>
        </p:nvSpPr>
        <p:spPr>
          <a:xfrm>
            <a:off x="2219089" y="5947492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3</a:t>
            </a:r>
          </a:p>
        </p:txBody>
      </p: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975112" y="4949144"/>
            <a:ext cx="0" cy="1334124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8572B1F1-214A-320C-858E-629081A18D2F}"/>
              </a:ext>
            </a:extLst>
          </p:cNvPr>
          <p:cNvSpPr txBox="1">
            <a:spLocks/>
          </p:cNvSpPr>
          <p:nvPr/>
        </p:nvSpPr>
        <p:spPr>
          <a:xfrm>
            <a:off x="2545488" y="4903256"/>
            <a:ext cx="14652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ptos Narrow" panose="020B0004020202020204" pitchFamily="34" charset="0"/>
              </a:rPr>
              <a:t>R$ 16,4 MM</a:t>
            </a:r>
          </a:p>
          <a:p>
            <a:r>
              <a:rPr lang="pt-BR" sz="1400" dirty="0">
                <a:latin typeface="Aptos Narrow" panose="020B0004020202020204" pitchFamily="34" charset="0"/>
              </a:rPr>
              <a:t>24/06/2025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583F4BC1-5D40-DD68-F709-3BFF903E4A6E}"/>
              </a:ext>
            </a:extLst>
          </p:cNvPr>
          <p:cNvSpPr txBox="1">
            <a:spLocks/>
          </p:cNvSpPr>
          <p:nvPr/>
        </p:nvSpPr>
        <p:spPr>
          <a:xfrm>
            <a:off x="2545488" y="5462317"/>
            <a:ext cx="14652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ptos Narrow" panose="020B0004020202020204" pitchFamily="34" charset="0"/>
              </a:rPr>
              <a:t>R$ 30 MM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545488" y="5883218"/>
            <a:ext cx="14652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ptos Narrow" panose="020B0004020202020204" pitchFamily="34" charset="0"/>
              </a:rPr>
              <a:t>R$ 10 MM</a:t>
            </a:r>
          </a:p>
        </p:txBody>
      </p:sp>
      <p:pic>
        <p:nvPicPr>
          <p:cNvPr id="64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4429448" y="1618397"/>
            <a:ext cx="558280" cy="558280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4958853" y="1712871"/>
            <a:ext cx="1819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>
            <a:off x="6479536" y="1675851"/>
            <a:ext cx="0" cy="438538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771449" y="4975878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958854" y="4999425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0746466"/>
              </p:ext>
            </p:extLst>
          </p:nvPr>
        </p:nvGraphicFramePr>
        <p:xfrm>
          <a:off x="4469408" y="2177489"/>
          <a:ext cx="7418223" cy="24384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73669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5016923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685262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1042369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273646">
                <a:tc>
                  <a:txBody>
                    <a:bodyPr/>
                    <a:lstStyle/>
                    <a:p>
                      <a:r>
                        <a:rPr lang="pt-BR" sz="10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Duração (meses)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r>
                        <a:rPr lang="pt-BR" sz="10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Reuniões com empresas </a:t>
                      </a:r>
                      <a:r>
                        <a:rPr lang="pt-BR" sz="1000" baseline="0" dirty="0"/>
                        <a:t>(Thermo Fischer, JEOL </a:t>
                      </a:r>
                      <a:r>
                        <a:rPr lang="pt-BR" sz="1000" baseline="0" dirty="0" err="1"/>
                        <a:t>Brazil</a:t>
                      </a:r>
                      <a:r>
                        <a:rPr lang="pt-BR" sz="1000" baseline="0" dirty="0"/>
                        <a:t>, EXUM </a:t>
                      </a:r>
                      <a:r>
                        <a:rPr lang="pt-BR" sz="1000" baseline="0" dirty="0" err="1"/>
                        <a:t>Instruments</a:t>
                      </a:r>
                      <a:r>
                        <a:rPr lang="pt-BR" sz="1000" baseline="0" dirty="0"/>
                        <a:t> e Applied </a:t>
                      </a:r>
                      <a:r>
                        <a:rPr lang="pt-BR" sz="1000" baseline="0" dirty="0" err="1"/>
                        <a:t>Spectra</a:t>
                      </a:r>
                      <a:r>
                        <a:rPr lang="pt-BR" sz="1000" baseline="0" dirty="0"/>
                        <a:t>) visando definir a listagem final de equipamentos para a conclusão dos laboratórios do CRG</a:t>
                      </a:r>
                      <a:r>
                        <a:rPr lang="pt-BR" sz="1000" dirty="0"/>
                        <a:t>,</a:t>
                      </a:r>
                      <a:r>
                        <a:rPr lang="pt-BR" sz="1000" baseline="0" dirty="0"/>
                        <a:t> além do lab.  Radiogênicos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Em Andamento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03089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r>
                        <a:rPr lang="pt-BR" sz="10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>
                          <a:solidFill>
                            <a:schemeClr val="tx1"/>
                          </a:solidFill>
                        </a:rPr>
                        <a:t>Reuniões com empresas e equipe (Nu </a:t>
                      </a:r>
                      <a:r>
                        <a:rPr lang="pt-BR" sz="1000" dirty="0" err="1">
                          <a:solidFill>
                            <a:schemeClr val="tx1"/>
                          </a:solidFill>
                        </a:rPr>
                        <a:t>Equipments</a:t>
                      </a:r>
                      <a:r>
                        <a:rPr lang="pt-BR" sz="1000" dirty="0">
                          <a:solidFill>
                            <a:schemeClr val="tx1"/>
                          </a:solidFill>
                        </a:rPr>
                        <a:t>, Thermo Fischer) para conclusão do laboratório de Isótopos Estáveis Avançados.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baseline="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Em andamento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233026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r>
                        <a:rPr lang="pt-BR" sz="10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/>
                        <a:t>Cadastramento dos equipamentos de</a:t>
                      </a:r>
                      <a:r>
                        <a:rPr lang="pt-BR" sz="1000" baseline="0" dirty="0"/>
                        <a:t> curto prazo no sistema CONVENIAR da FINATEC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/>
                        <a:t>Concluído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6865421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4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00" dirty="0" smtClean="0"/>
                        <a:t>Elaboração</a:t>
                      </a:r>
                      <a:r>
                        <a:rPr lang="pt-BR" sz="1000" baseline="0" dirty="0" smtClean="0"/>
                        <a:t> da Razão da Escolha dos Equipamentos Importados: a) </a:t>
                      </a:r>
                      <a:r>
                        <a:rPr lang="pt-BR" sz="1000" baseline="0" dirty="0" err="1" smtClean="0"/>
                        <a:t>Espectômetro</a:t>
                      </a:r>
                      <a:r>
                        <a:rPr lang="pt-BR" sz="1000" baseline="0" dirty="0" smtClean="0"/>
                        <a:t> de Massa; b) Sistema automatizado de contagem de traços de fissão e medição de confinados; c) Sistema de Laser </a:t>
                      </a:r>
                      <a:r>
                        <a:rPr lang="pt-BR" sz="1000" baseline="0" dirty="0" err="1" smtClean="0"/>
                        <a:t>Ablation</a:t>
                      </a:r>
                      <a:r>
                        <a:rPr lang="pt-BR" sz="1000" baseline="0" dirty="0" smtClean="0"/>
                        <a:t>; d) Microscópio </a:t>
                      </a:r>
                      <a:r>
                        <a:rPr lang="pt-BR" sz="1000" baseline="0" smtClean="0"/>
                        <a:t>com Cátodo </a:t>
                      </a:r>
                      <a:r>
                        <a:rPr lang="pt-BR" sz="1000" baseline="0" dirty="0" smtClean="0"/>
                        <a:t>Óptica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½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Em</a:t>
                      </a:r>
                      <a:r>
                        <a:rPr lang="pt-BR" sz="1000" baseline="0" dirty="0" smtClean="0"/>
                        <a:t> andamento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7396620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91433" y="415756"/>
            <a:ext cx="42509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r>
              <a:rPr lang="pt-BR" dirty="0"/>
              <a:t>Elaboração da justificativa técnica para a escolha dos equipamentos e do fornecedor, no âmbito do processo de dispensa de licitação</a:t>
            </a:r>
            <a:endParaRPr lang="pt-BR" dirty="0"/>
          </a:p>
        </p:txBody>
      </p:sp>
      <p:sp>
        <p:nvSpPr>
          <p:cNvPr id="80" name="CaixaDeTexto 79">
            <a:extLst>
              <a:ext uri="{FF2B5EF4-FFF2-40B4-BE49-F238E27FC236}">
                <a16:creationId xmlns:a16="http://schemas.microsoft.com/office/drawing/2014/main" id="{144D084B-70A7-B767-2F59-CB16F5008E9B}"/>
              </a:ext>
            </a:extLst>
          </p:cNvPr>
          <p:cNvSpPr txBox="1">
            <a:spLocks/>
          </p:cNvSpPr>
          <p:nvPr/>
        </p:nvSpPr>
        <p:spPr>
          <a:xfrm>
            <a:off x="4429449" y="5450552"/>
            <a:ext cx="36096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r>
              <a:rPr lang="pt-BR" sz="1400" dirty="0"/>
              <a:t>1) Aguardo da liberação de novas cotas do CNPQ para a importação de equipamentos com a isenção de impostos.</a:t>
            </a:r>
            <a:endParaRPr lang="pt-BR" dirty="0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ABBE117-E962-1700-D752-71C958DAF906}"/>
              </a:ext>
            </a:extLst>
          </p:cNvPr>
          <p:cNvSpPr txBox="1">
            <a:spLocks/>
          </p:cNvSpPr>
          <p:nvPr/>
        </p:nvSpPr>
        <p:spPr>
          <a:xfrm>
            <a:off x="8274809" y="5365129"/>
            <a:ext cx="34369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arenR"/>
            </a:pPr>
            <a:r>
              <a:rPr lang="pt-BR" sz="1400" dirty="0">
                <a:solidFill>
                  <a:schemeClr val="bg1"/>
                </a:solidFill>
                <a:latin typeface="Aptos Narrow" panose="020B0004020202020204" pitchFamily="34" charset="0"/>
              </a:rPr>
              <a:t>Variação Cambial;</a:t>
            </a:r>
          </a:p>
          <a:p>
            <a:pPr marL="342900" indent="-342900">
              <a:buFont typeface="+mj-lt"/>
              <a:buAutoNum type="arabicParenR"/>
            </a:pPr>
            <a:r>
              <a:rPr lang="pt-BR" sz="1400" dirty="0">
                <a:solidFill>
                  <a:schemeClr val="bg1"/>
                </a:solidFill>
                <a:latin typeface="Aptos Narrow" panose="020B0004020202020204" pitchFamily="34" charset="0"/>
              </a:rPr>
              <a:t>Tempo de Construção do Prédio;</a:t>
            </a:r>
          </a:p>
          <a:p>
            <a:pPr marL="342900" indent="-342900">
              <a:buFont typeface="+mj-lt"/>
              <a:buAutoNum type="arabicParenR"/>
            </a:pPr>
            <a:r>
              <a:rPr lang="pt-BR" sz="1400" dirty="0">
                <a:solidFill>
                  <a:schemeClr val="bg1"/>
                </a:solidFill>
                <a:latin typeface="Aptos Narrow" panose="020B0004020202020204" pitchFamily="34" charset="0"/>
              </a:rPr>
              <a:t>Processo de Importação; </a:t>
            </a:r>
          </a:p>
          <a:p>
            <a:pPr marL="342900" indent="-342900">
              <a:buFont typeface="+mj-lt"/>
              <a:buAutoNum type="arabicParenR"/>
            </a:pPr>
            <a:r>
              <a:rPr lang="pt-BR" sz="1400" dirty="0">
                <a:solidFill>
                  <a:schemeClr val="bg1"/>
                </a:solidFill>
                <a:latin typeface="Aptos Narrow" panose="020B0004020202020204" pitchFamily="34" charset="0"/>
              </a:rPr>
              <a:t> Instalação dos Equipamentos</a:t>
            </a:r>
          </a:p>
        </p:txBody>
      </p:sp>
      <p:pic>
        <p:nvPicPr>
          <p:cNvPr id="83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 rot="10800000">
            <a:off x="4448738" y="4917629"/>
            <a:ext cx="551157" cy="551157"/>
          </a:xfrm>
          <a:prstGeom prst="rect">
            <a:avLst/>
          </a:prstGeom>
        </p:spPr>
      </p:pic>
      <p:pic>
        <p:nvPicPr>
          <p:cNvPr id="85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>
            <a:off x="8276233" y="4904818"/>
            <a:ext cx="541220" cy="541220"/>
          </a:xfrm>
          <a:prstGeom prst="rect">
            <a:avLst/>
          </a:prstGeom>
        </p:spPr>
      </p:pic>
      <p:pic>
        <p:nvPicPr>
          <p:cNvPr id="87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4560557" y="309190"/>
            <a:ext cx="541059" cy="541059"/>
          </a:xfrm>
          <a:prstGeom prst="rect">
            <a:avLst/>
          </a:prstGeom>
        </p:spPr>
      </p:pic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9" name="Gráfico 61" descr="Selo Tick1 estrutura de tópicos">
            <a:extLst>
              <a:ext uri="{FF2B5EF4-FFF2-40B4-BE49-F238E27FC236}">
                <a16:creationId xmlns:a16="http://schemas.microsoft.com/office/drawing/2014/main" id="{1F660757-0CE4-334C-3A32-16FF79DAF77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xmlns="" r:embed="rId21"/>
              </a:ext>
            </a:extLst>
          </a:blip>
          <a:stretch>
            <a:fillRect/>
          </a:stretch>
        </p:blipFill>
        <p:spPr>
          <a:xfrm>
            <a:off x="3646514" y="4880945"/>
            <a:ext cx="312263" cy="31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523</TotalTime>
  <Words>278</Words>
  <Application>Microsoft Office PowerPoint</Application>
  <PresentationFormat>Widescreen</PresentationFormat>
  <Paragraphs>53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Usuário</cp:lastModifiedBy>
  <cp:revision>30</cp:revision>
  <dcterms:created xsi:type="dcterms:W3CDTF">2025-07-07T09:08:08Z</dcterms:created>
  <dcterms:modified xsi:type="dcterms:W3CDTF">2026-01-02T19:42:27Z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