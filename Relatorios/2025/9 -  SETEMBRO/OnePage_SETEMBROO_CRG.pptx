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5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44885" y="5013865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smtClean="0">
                <a:solidFill>
                  <a:srgbClr val="00B2A9"/>
                </a:solidFill>
                <a:latin typeface="Petrobras Sans" panose="020B0606020204030204" pitchFamily="34" charset="0"/>
              </a:rPr>
              <a:t>CRG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239801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34056" y="4939903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41506" y="162349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0610" y="1621823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4903" y="1858026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15/05/2025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9289796" y="164091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9289796" y="187800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8827797" y="1672025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4183" y="1680712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758111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36242" y="1622246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07104" y="1689343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81230" y="1690132"/>
            <a:ext cx="0" cy="368543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68170" y="508492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890464" y="4985656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597010"/>
              </p:ext>
            </p:extLst>
          </p:nvPr>
        </p:nvGraphicFramePr>
        <p:xfrm>
          <a:off x="4347679" y="2295993"/>
          <a:ext cx="7514120" cy="14325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03142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340502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99276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771200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94419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17925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1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Edital da</a:t>
                      </a:r>
                      <a:r>
                        <a:rPr lang="pt-BR" sz="1000" baseline="0" dirty="0" smtClean="0"/>
                        <a:t> licitação </a:t>
                      </a:r>
                      <a:r>
                        <a:rPr lang="pt-BR" sz="1000" baseline="0" dirty="0" smtClean="0"/>
                        <a:t>de </a:t>
                      </a:r>
                      <a:r>
                        <a:rPr lang="pt-BR" sz="1000" baseline="0" dirty="0" smtClean="0"/>
                        <a:t>construção do CRG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Concluído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978030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2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baseline="0" dirty="0" smtClean="0"/>
                        <a:t>Unificação das licenças de obras do Complexo Científico e Cultural da </a:t>
                      </a:r>
                      <a:r>
                        <a:rPr lang="pt-BR" sz="1000" baseline="0" dirty="0" smtClean="0"/>
                        <a:t>Urca (EISPRO2022/05481</a:t>
                      </a:r>
                      <a:r>
                        <a:rPr lang="pt-BR" sz="1000" baseline="0" dirty="0" smtClean="0"/>
                        <a:t>)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 smtClean="0"/>
                        <a:t>Em andamento</a:t>
                      </a:r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691428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3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 smtClean="0"/>
                        <a:t>Finalização do edital </a:t>
                      </a:r>
                      <a:r>
                        <a:rPr lang="pt-BR" sz="1000" baseline="0" dirty="0" smtClean="0"/>
                        <a:t>do p</a:t>
                      </a:r>
                      <a:r>
                        <a:rPr lang="pt-BR" sz="1000" dirty="0" smtClean="0"/>
                        <a:t>rocesso licitatório</a:t>
                      </a:r>
                      <a:r>
                        <a:rPr lang="pt-BR" sz="1000" baseline="0" dirty="0" smtClean="0"/>
                        <a:t> para o </a:t>
                      </a:r>
                      <a:r>
                        <a:rPr lang="pt-BR" sz="1000" baseline="0" dirty="0" err="1" smtClean="0"/>
                        <a:t>diligenciamento</a:t>
                      </a:r>
                      <a:r>
                        <a:rPr lang="pt-BR" sz="1000" baseline="0" dirty="0" smtClean="0"/>
                        <a:t> das obras do CRG pela FINATEC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1/2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 smtClean="0"/>
                        <a:t>Em</a:t>
                      </a:r>
                      <a:r>
                        <a:rPr lang="pt-BR" sz="900" baseline="0" dirty="0" smtClean="0"/>
                        <a:t> andamento</a:t>
                      </a:r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963229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dirty="0"/>
              <a:t>Lançamento do edital da licitação destinado à construção da construção </a:t>
            </a:r>
            <a:r>
              <a:rPr lang="pt-BR" dirty="0"/>
              <a:t>do </a:t>
            </a:r>
            <a:r>
              <a:rPr lang="pt-BR" dirty="0" smtClean="0"/>
              <a:t>CRG </a:t>
            </a:r>
            <a:r>
              <a:rPr lang="pt-BR" dirty="0"/>
              <a:t>– seleção pública n° </a:t>
            </a:r>
            <a:r>
              <a:rPr lang="pt-BR" dirty="0" smtClean="0"/>
              <a:t>129/2025</a:t>
            </a:r>
            <a:endParaRPr lang="pt-BR" dirty="0"/>
          </a:p>
          <a:p>
            <a:pPr algn="just"/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186208" y="5491061"/>
            <a:ext cx="3621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 Demora da prefeitura do RJ para a licença de obra;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>
            <a:off x="4415743" y="4939903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72954" y="5013865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11005" y="2181890"/>
            <a:ext cx="37857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Construção de estrutura predial para abrigar o Centro de Referência em Geociências: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de PD &amp; I na área do óleo &amp; gás voltados para </a:t>
            </a:r>
            <a:r>
              <a:rPr lang="pt-BR" sz="1600" dirty="0" err="1" smtClean="0">
                <a:latin typeface="Aptos Narrow" panose="020B0004020202020204" pitchFamily="34" charset="0"/>
              </a:rPr>
              <a:t>Isotopia</a:t>
            </a:r>
            <a:r>
              <a:rPr lang="pt-BR" sz="1600" dirty="0" smtClean="0">
                <a:latin typeface="Aptos Narrow" panose="020B0004020202020204" pitchFamily="34" charset="0"/>
              </a:rPr>
              <a:t> e Geocronologia;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projetos voltados nas linhas de pesquisa cadastradas na ANP pelo SGB</a:t>
            </a:r>
            <a:endParaRPr lang="pt-BR" sz="1600" dirty="0">
              <a:latin typeface="Aptos Narrow" panose="020B0004020202020204" pitchFamily="34" charset="0"/>
            </a:endParaRPr>
          </a:p>
          <a:p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491" y="1663481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491" y="194869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2024/00012-3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42087" y="5462365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34,929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88294" y="4881651"/>
            <a:ext cx="186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24,929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24/06/2025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61231" y="5453352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10,0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876691" y="4916560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889778" y="5406943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34056" y="5208200"/>
            <a:ext cx="36981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sz="1200" dirty="0" smtClean="0"/>
          </a:p>
          <a:p>
            <a:pPr marL="342900" indent="-342900" algn="just">
              <a:buAutoNum type="arabicParenR"/>
            </a:pPr>
            <a:r>
              <a:rPr lang="pt-BR" sz="1200" dirty="0"/>
              <a:t>Obtenção da licença de obras;</a:t>
            </a:r>
          </a:p>
          <a:p>
            <a:pPr marL="342900" indent="-342900" algn="just">
              <a:buAutoNum type="arabicParenR"/>
            </a:pPr>
            <a:r>
              <a:rPr lang="pt-BR" sz="1200" dirty="0"/>
              <a:t>Seleção de empresa para a execução da obra </a:t>
            </a:r>
            <a:r>
              <a:rPr lang="pt-BR" sz="1200" dirty="0" smtClean="0"/>
              <a:t>de construção do CRG;</a:t>
            </a:r>
            <a:endParaRPr lang="pt-BR" sz="1200" dirty="0"/>
          </a:p>
          <a:p>
            <a:pPr marL="342900" indent="-342900" algn="just">
              <a:buFontTx/>
              <a:buAutoNum type="arabicParenR"/>
            </a:pPr>
            <a:r>
              <a:rPr lang="pt-BR" sz="1200" dirty="0"/>
              <a:t>Assinatura da minuta do 1° Aditivo de valor para o TC;</a:t>
            </a:r>
          </a:p>
          <a:p>
            <a:pPr marL="342900" indent="-342900" algn="just">
              <a:buAutoNum type="arabicParenR"/>
            </a:pPr>
            <a:endParaRPr lang="pt-BR" dirty="0"/>
          </a:p>
        </p:txBody>
      </p:sp>
      <p:pic>
        <p:nvPicPr>
          <p:cNvPr id="53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492592" y="4881391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781</TotalTime>
  <Words>196</Words>
  <Application>Microsoft Office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60</cp:revision>
  <dcterms:created xsi:type="dcterms:W3CDTF">2025-07-07T09:08:08Z</dcterms:created>
  <dcterms:modified xsi:type="dcterms:W3CDTF">2025-10-01T17:32:23Z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